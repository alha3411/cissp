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6" r:id="rId2"/>
    <p:sldMasterId id="2147483736" r:id="rId3"/>
    <p:sldMasterId id="2147483754" r:id="rId4"/>
    <p:sldMasterId id="2147483794" r:id="rId5"/>
    <p:sldMasterId id="2147483819" r:id="rId6"/>
    <p:sldMasterId id="2147483831" r:id="rId7"/>
  </p:sldMasterIdLst>
  <p:notesMasterIdLst>
    <p:notesMasterId r:id="rId39"/>
  </p:notesMasterIdLst>
  <p:sldIdLst>
    <p:sldId id="256" r:id="rId8"/>
    <p:sldId id="479" r:id="rId9"/>
    <p:sldId id="257" r:id="rId10"/>
    <p:sldId id="260" r:id="rId11"/>
    <p:sldId id="261" r:id="rId12"/>
    <p:sldId id="291" r:id="rId13"/>
    <p:sldId id="484" r:id="rId14"/>
    <p:sldId id="485" r:id="rId15"/>
    <p:sldId id="2489" r:id="rId16"/>
    <p:sldId id="2495" r:id="rId17"/>
    <p:sldId id="268" r:id="rId18"/>
    <p:sldId id="378" r:id="rId19"/>
    <p:sldId id="288" r:id="rId20"/>
    <p:sldId id="289" r:id="rId21"/>
    <p:sldId id="290" r:id="rId22"/>
    <p:sldId id="263" r:id="rId23"/>
    <p:sldId id="267" r:id="rId24"/>
    <p:sldId id="2502" r:id="rId25"/>
    <p:sldId id="2503" r:id="rId26"/>
    <p:sldId id="501" r:id="rId27"/>
    <p:sldId id="264" r:id="rId28"/>
    <p:sldId id="265" r:id="rId29"/>
    <p:sldId id="1010" r:id="rId30"/>
    <p:sldId id="1011" r:id="rId31"/>
    <p:sldId id="266" r:id="rId32"/>
    <p:sldId id="271" r:id="rId33"/>
    <p:sldId id="1020" r:id="rId34"/>
    <p:sldId id="2419" r:id="rId35"/>
    <p:sldId id="2420" r:id="rId36"/>
    <p:sldId id="2417" r:id="rId37"/>
    <p:sldId id="1037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C51BDFA-29F6-4AC9-BFBF-F201267A7B9E}">
          <p14:sldIdLst>
            <p14:sldId id="256"/>
            <p14:sldId id="479"/>
            <p14:sldId id="257"/>
            <p14:sldId id="260"/>
          </p14:sldIdLst>
        </p14:section>
        <p14:section name="Assessment &amp; Testing Overview" id="{AADC35C4-57E6-4968-B710-F21160CDBC5D}">
          <p14:sldIdLst>
            <p14:sldId id="261"/>
          </p14:sldIdLst>
        </p14:section>
        <p14:section name="Penetration Testing" id="{034AF127-64C7-4AC1-997D-59F61D4D4CC2}">
          <p14:sldIdLst>
            <p14:sldId id="291"/>
            <p14:sldId id="484"/>
            <p14:sldId id="485"/>
            <p14:sldId id="2489"/>
            <p14:sldId id="2495"/>
          </p14:sldIdLst>
        </p14:section>
        <p14:section name="Vulnerability Assessment" id="{7CB4A47E-2567-46FE-8B31-A4A17D4133BF}">
          <p14:sldIdLst/>
        </p14:section>
        <p14:section name="Audits" id="{33608822-92AE-419D-810D-20590B152DCF}">
          <p14:sldIdLst>
            <p14:sldId id="268"/>
            <p14:sldId id="378"/>
            <p14:sldId id="288"/>
            <p14:sldId id="289"/>
            <p14:sldId id="290"/>
          </p14:sldIdLst>
        </p14:section>
        <p14:section name="Security Assessments" id="{21909839-3A85-4D7F-8605-55C465D30E8B}">
          <p14:sldIdLst/>
        </p14:section>
        <p14:section name="Security Process Data &amp; Oversight" id="{D79C98EF-66EE-4F74-B269-D1A09FC1DB11}">
          <p14:sldIdLst>
            <p14:sldId id="263"/>
            <p14:sldId id="267"/>
            <p14:sldId id="2502"/>
            <p14:sldId id="2503"/>
            <p14:sldId id="501"/>
          </p14:sldIdLst>
        </p14:section>
        <p14:section name="Software &amp; Application Testing" id="{31503C12-0468-40A0-A333-48A209D3C3DB}">
          <p14:sldIdLst>
            <p14:sldId id="264"/>
            <p14:sldId id="265"/>
            <p14:sldId id="1010"/>
            <p14:sldId id="1011"/>
            <p14:sldId id="266"/>
            <p14:sldId id="271"/>
          </p14:sldIdLst>
        </p14:section>
        <p14:section name="Disclosure" id="{F968A3A9-8A14-4AB2-B186-9F5850976EC4}">
          <p14:sldIdLst/>
        </p14:section>
        <p14:section name="Software Vulnerabilities" id="{144DFC8A-052F-4375-97B0-D5A7D84219CE}">
          <p14:sldIdLst>
            <p14:sldId id="1020"/>
            <p14:sldId id="2419"/>
            <p14:sldId id="2420"/>
            <p14:sldId id="2417"/>
            <p14:sldId id="10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80678-CC23-49DF-895C-16713A7BFF6D}" v="4" dt="2026-08-11T15:03:34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6301" autoAdjust="0"/>
  </p:normalViewPr>
  <p:slideViewPr>
    <p:cSldViewPr snapToGrid="0">
      <p:cViewPr varScale="1">
        <p:scale>
          <a:sx n="114" d="100"/>
          <a:sy n="114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n Harrah" userId="13ac046d-2492-4a67-a5cf-463964845fac" providerId="ADAL" clId="{D4502DDC-EA26-47E9-A453-E89952727A4D}"/>
    <pc:docChg chg="custSel modSld sldOrd addSection modSection">
      <pc:chgData name="Alan Harrah" userId="13ac046d-2492-4a67-a5cf-463964845fac" providerId="ADAL" clId="{D4502DDC-EA26-47E9-A453-E89952727A4D}" dt="2026-08-06T16:27:16.190" v="0" actId="26606"/>
      <pc:docMkLst>
        <pc:docMk/>
      </pc:docMkLst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56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57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60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61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62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63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64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65"/>
        </pc:sldMkLst>
      </pc:sldChg>
      <pc:sldChg chg="modSp mod 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66"/>
        </pc:sldMkLst>
        <pc:spChg chg="mod">
          <ac:chgData name="Alan Harrah" userId="13ac046d-2492-4a67-a5cf-463964845fac" providerId="ADAL" clId="{D4502DDC-EA26-47E9-A453-E89952727A4D}" dt="2026-08-06T16:27:16.190" v="0" actId="26606"/>
          <ac:spMkLst>
            <pc:docMk/>
            <pc:sldMk cId="0" sldId="266"/>
            <ac:spMk id="4" creationId="{00000000-0000-0000-0000-000000000000}"/>
          </ac:spMkLst>
        </pc:spChg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67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0" sldId="268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3725031667" sldId="271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3096852290" sldId="378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1343550689" sldId="484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1875171108" sldId="485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3501414301" sldId="501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4003281626" sldId="1010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2384412055" sldId="1011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3149218814" sldId="1020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436140961" sldId="1037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947015009" sldId="2417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681616206" sldId="2419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2778094074" sldId="2420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1161950891" sldId="2489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1156451169" sldId="2495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4070429016" sldId="2502"/>
        </pc:sldMkLst>
      </pc:sldChg>
      <pc:sldChg chg="ord">
        <pc:chgData name="Alan Harrah" userId="13ac046d-2492-4a67-a5cf-463964845fac" providerId="ADAL" clId="{D4502DDC-EA26-47E9-A453-E89952727A4D}" dt="2026-08-06T16:27:16.190" v="0" actId="26606"/>
        <pc:sldMkLst>
          <pc:docMk/>
          <pc:sldMk cId="1613007290" sldId="2503"/>
        </pc:sldMkLst>
      </pc:sldChg>
    </pc:docChg>
  </pc:docChgLst>
  <pc:docChgLst>
    <pc:chgData name="Alan Harrah" userId="9dbaa1db5e5d5f04" providerId="LiveId" clId="{F2266474-AB8E-5222-ACF9-7DCF1A0D72FA}"/>
    <pc:docChg chg="custSel addSld delSld modSld sldOrd modSection">
      <pc:chgData name="Alan Harrah" userId="9dbaa1db5e5d5f04" providerId="LiveId" clId="{F2266474-AB8E-5222-ACF9-7DCF1A0D72FA}" dt="2026-08-08T20:08:22" v="26"/>
      <pc:docMkLst>
        <pc:docMk/>
      </pc:docMkLst>
      <pc:sldChg chg="delSp mod">
        <pc:chgData name="Alan Harrah" userId="9dbaa1db5e5d5f04" providerId="LiveId" clId="{F2266474-AB8E-5222-ACF9-7DCF1A0D72FA}" dt="2026-08-08T20:05:15.124" v="5" actId="478"/>
        <pc:sldMkLst>
          <pc:docMk/>
          <pc:sldMk cId="0" sldId="264"/>
        </pc:sldMkLst>
      </pc:sldChg>
      <pc:sldChg chg="delSp mod">
        <pc:chgData name="Alan Harrah" userId="9dbaa1db5e5d5f04" providerId="LiveId" clId="{F2266474-AB8E-5222-ACF9-7DCF1A0D72FA}" dt="2026-08-08T20:05:29.560" v="7" actId="478"/>
        <pc:sldMkLst>
          <pc:docMk/>
          <pc:sldMk cId="0" sldId="265"/>
        </pc:sldMkLst>
      </pc:sldChg>
      <pc:sldChg chg="add">
        <pc:chgData name="Alan Harrah" userId="9dbaa1db5e5d5f04" providerId="LiveId" clId="{F2266474-AB8E-5222-ACF9-7DCF1A0D72FA}" dt="2026-08-08T20:08:22" v="26"/>
        <pc:sldMkLst>
          <pc:docMk/>
          <pc:sldMk cId="1634652129" sldId="479"/>
        </pc:sldMkLst>
      </pc:sldChg>
      <pc:sldChg chg="ord">
        <pc:chgData name="Alan Harrah" userId="9dbaa1db5e5d5f04" providerId="LiveId" clId="{F2266474-AB8E-5222-ACF9-7DCF1A0D72FA}" dt="2026-08-08T20:04:17.951" v="2" actId="20578"/>
        <pc:sldMkLst>
          <pc:docMk/>
          <pc:sldMk cId="1343550689" sldId="484"/>
        </pc:sldMkLst>
      </pc:sldChg>
    </pc:docChg>
  </pc:docChgLst>
  <pc:docChgLst>
    <pc:chgData name="Alan Harrah" userId="9dbaa1db5e5d5f04" providerId="LiveId" clId="{D4502DDC-EA26-47E9-A453-E89952727A4D}"/>
    <pc:docChg chg="custSel addSld delSld modSld delMainMaster modSection">
      <pc:chgData name="Alan Harrah" userId="9dbaa1db5e5d5f04" providerId="LiveId" clId="{D4502DDC-EA26-47E9-A453-E89952727A4D}" dt="2026-08-11T15:03:34.518" v="38"/>
      <pc:docMkLst>
        <pc:docMk/>
      </pc:docMkLst>
      <pc:sldChg chg="add">
        <pc:chgData name="Alan Harrah" userId="9dbaa1db5e5d5f04" providerId="LiveId" clId="{D4502DDC-EA26-47E9-A453-E89952727A4D}" dt="2026-08-05T16:00:33.501" v="0"/>
        <pc:sldMkLst>
          <pc:docMk/>
          <pc:sldMk cId="0" sldId="257"/>
        </pc:sldMkLst>
      </pc:sldChg>
      <pc:sldChg chg="delSp modSp add mod">
        <pc:chgData name="Alan Harrah" userId="9dbaa1db5e5d5f04" providerId="LiveId" clId="{D4502DDC-EA26-47E9-A453-E89952727A4D}" dt="2026-08-10T17:30:28.697" v="10" actId="478"/>
        <pc:sldMkLst>
          <pc:docMk/>
          <pc:sldMk cId="0" sldId="260"/>
        </pc:sldMkLst>
        <pc:cxnChg chg="del mod">
          <ac:chgData name="Alan Harrah" userId="9dbaa1db5e5d5f04" providerId="LiveId" clId="{D4502DDC-EA26-47E9-A453-E89952727A4D}" dt="2026-08-10T17:30:28.697" v="10" actId="478"/>
          <ac:cxnSpMkLst>
            <pc:docMk/>
            <pc:sldMk cId="0" sldId="260"/>
            <ac:cxnSpMk id="12" creationId="{00000000-0000-0000-0000-000000000000}"/>
          </ac:cxnSpMkLst>
        </pc:cxnChg>
      </pc:sldChg>
      <pc:sldChg chg="modSp add mod">
        <pc:chgData name="Alan Harrah" userId="9dbaa1db5e5d5f04" providerId="LiveId" clId="{D4502DDC-EA26-47E9-A453-E89952727A4D}" dt="2026-08-10T17:31:01.474" v="15" actId="1076"/>
        <pc:sldMkLst>
          <pc:docMk/>
          <pc:sldMk cId="0" sldId="261"/>
        </pc:sldMkLst>
        <pc:spChg chg="mod">
          <ac:chgData name="Alan Harrah" userId="9dbaa1db5e5d5f04" providerId="LiveId" clId="{D4502DDC-EA26-47E9-A453-E89952727A4D}" dt="2026-08-10T17:30:37.121" v="12" actId="14100"/>
          <ac:spMkLst>
            <pc:docMk/>
            <pc:sldMk cId="0" sldId="261"/>
            <ac:spMk id="6" creationId="{00000000-0000-0000-0000-000000000000}"/>
          </ac:spMkLst>
        </pc:spChg>
        <pc:cxnChg chg="mod">
          <ac:chgData name="Alan Harrah" userId="9dbaa1db5e5d5f04" providerId="LiveId" clId="{D4502DDC-EA26-47E9-A453-E89952727A4D}" dt="2026-08-10T17:31:01.474" v="15" actId="1076"/>
          <ac:cxnSpMkLst>
            <pc:docMk/>
            <pc:sldMk cId="0" sldId="261"/>
            <ac:cxnSpMk id="7" creationId="{00000000-0000-0000-0000-000000000000}"/>
          </ac:cxnSpMkLst>
        </pc:cxnChg>
      </pc:sldChg>
      <pc:sldChg chg="modSp add mod">
        <pc:chgData name="Alan Harrah" userId="9dbaa1db5e5d5f04" providerId="LiveId" clId="{D4502DDC-EA26-47E9-A453-E89952727A4D}" dt="2026-08-10T17:34:34.268" v="31" actId="14100"/>
        <pc:sldMkLst>
          <pc:docMk/>
          <pc:sldMk cId="0" sldId="262"/>
        </pc:sldMkLst>
        <pc:cxnChg chg="mod">
          <ac:chgData name="Alan Harrah" userId="9dbaa1db5e5d5f04" providerId="LiveId" clId="{D4502DDC-EA26-47E9-A453-E89952727A4D}" dt="2026-08-10T17:34:34.268" v="31" actId="14100"/>
          <ac:cxnSpMkLst>
            <pc:docMk/>
            <pc:sldMk cId="0" sldId="262"/>
            <ac:cxnSpMk id="8" creationId="{00000000-0000-0000-0000-000000000000}"/>
          </ac:cxnSpMkLst>
        </pc:cxnChg>
      </pc:sldChg>
      <pc:sldChg chg="delSp add mod">
        <pc:chgData name="Alan Harrah" userId="9dbaa1db5e5d5f04" providerId="LiveId" clId="{D4502DDC-EA26-47E9-A453-E89952727A4D}" dt="2026-08-10T17:31:56.404" v="20" actId="478"/>
        <pc:sldMkLst>
          <pc:docMk/>
          <pc:sldMk cId="0" sldId="263"/>
        </pc:sldMkLst>
        <pc:cxnChg chg="del">
          <ac:chgData name="Alan Harrah" userId="9dbaa1db5e5d5f04" providerId="LiveId" clId="{D4502DDC-EA26-47E9-A453-E89952727A4D}" dt="2026-08-10T17:31:54.940" v="19" actId="478"/>
          <ac:cxnSpMkLst>
            <pc:docMk/>
            <pc:sldMk cId="0" sldId="263"/>
            <ac:cxnSpMk id="32" creationId="{00000000-0000-0000-0000-000000000000}"/>
          </ac:cxnSpMkLst>
        </pc:cxnChg>
        <pc:cxnChg chg="del">
          <ac:chgData name="Alan Harrah" userId="9dbaa1db5e5d5f04" providerId="LiveId" clId="{D4502DDC-EA26-47E9-A453-E89952727A4D}" dt="2026-08-10T17:31:56.404" v="20" actId="478"/>
          <ac:cxnSpMkLst>
            <pc:docMk/>
            <pc:sldMk cId="0" sldId="263"/>
            <ac:cxnSpMk id="33" creationId="{00000000-0000-0000-0000-000000000000}"/>
          </ac:cxnSpMkLst>
        </pc:cxnChg>
      </pc:sldChg>
      <pc:sldChg chg="modSp add mod">
        <pc:chgData name="Alan Harrah" userId="9dbaa1db5e5d5f04" providerId="LiveId" clId="{D4502DDC-EA26-47E9-A453-E89952727A4D}" dt="2026-08-10T17:34:09.946" v="29" actId="1076"/>
        <pc:sldMkLst>
          <pc:docMk/>
          <pc:sldMk cId="0" sldId="264"/>
        </pc:sldMkLst>
        <pc:spChg chg="mod">
          <ac:chgData name="Alan Harrah" userId="9dbaa1db5e5d5f04" providerId="LiveId" clId="{D4502DDC-EA26-47E9-A453-E89952727A4D}" dt="2026-08-10T17:34:09.946" v="29" actId="1076"/>
          <ac:spMkLst>
            <pc:docMk/>
            <pc:sldMk cId="0" sldId="264"/>
            <ac:spMk id="6" creationId="{00000000-0000-0000-0000-000000000000}"/>
          </ac:spMkLst>
        </pc:spChg>
      </pc:sldChg>
      <pc:sldChg chg="delSp modSp add mod">
        <pc:chgData name="Alan Harrah" userId="9dbaa1db5e5d5f04" providerId="LiveId" clId="{D4502DDC-EA26-47E9-A453-E89952727A4D}" dt="2026-08-10T17:33:08.875" v="26" actId="13926"/>
        <pc:sldMkLst>
          <pc:docMk/>
          <pc:sldMk cId="0" sldId="265"/>
        </pc:sldMkLst>
        <pc:spChg chg="mod">
          <ac:chgData name="Alan Harrah" userId="9dbaa1db5e5d5f04" providerId="LiveId" clId="{D4502DDC-EA26-47E9-A453-E89952727A4D}" dt="2026-08-10T17:33:08.875" v="26" actId="13926"/>
          <ac:spMkLst>
            <pc:docMk/>
            <pc:sldMk cId="0" sldId="265"/>
            <ac:spMk id="5" creationId="{00000000-0000-0000-0000-000000000000}"/>
          </ac:spMkLst>
        </pc:spChg>
        <pc:cxnChg chg="del mod">
          <ac:chgData name="Alan Harrah" userId="9dbaa1db5e5d5f04" providerId="LiveId" clId="{D4502DDC-EA26-47E9-A453-E89952727A4D}" dt="2026-08-10T17:33:04.871" v="25" actId="478"/>
          <ac:cxnSpMkLst>
            <pc:docMk/>
            <pc:sldMk cId="0" sldId="265"/>
            <ac:cxnSpMk id="7" creationId="{00000000-0000-0000-0000-000000000000}"/>
          </ac:cxnSpMkLst>
        </pc:cxnChg>
        <pc:cxnChg chg="mod">
          <ac:chgData name="Alan Harrah" userId="9dbaa1db5e5d5f04" providerId="LiveId" clId="{D4502DDC-EA26-47E9-A453-E89952727A4D}" dt="2026-08-10T17:32:23.359" v="21" actId="1076"/>
          <ac:cxnSpMkLst>
            <pc:docMk/>
            <pc:sldMk cId="0" sldId="265"/>
            <ac:cxnSpMk id="8" creationId="{00000000-0000-0000-0000-000000000000}"/>
          </ac:cxnSpMkLst>
        </pc:cxnChg>
      </pc:sldChg>
      <pc:sldChg chg="delSp modSp add mod">
        <pc:chgData name="Alan Harrah" userId="9dbaa1db5e5d5f04" providerId="LiveId" clId="{D4502DDC-EA26-47E9-A453-E89952727A4D}" dt="2026-08-06T18:34:50.320" v="8" actId="478"/>
        <pc:sldMkLst>
          <pc:docMk/>
          <pc:sldMk cId="0" sldId="266"/>
        </pc:sldMkLst>
        <pc:spChg chg="mod">
          <ac:chgData name="Alan Harrah" userId="9dbaa1db5e5d5f04" providerId="LiveId" clId="{D4502DDC-EA26-47E9-A453-E89952727A4D}" dt="2026-08-06T18:34:47.850" v="7" actId="1076"/>
          <ac:spMkLst>
            <pc:docMk/>
            <pc:sldMk cId="0" sldId="266"/>
            <ac:spMk id="8" creationId="{00000000-0000-0000-0000-000000000000}"/>
          </ac:spMkLst>
        </pc:spChg>
      </pc:sldChg>
      <pc:sldChg chg="delSp add mod">
        <pc:chgData name="Alan Harrah" userId="9dbaa1db5e5d5f04" providerId="LiveId" clId="{D4502DDC-EA26-47E9-A453-E89952727A4D}" dt="2026-08-11T15:02:41.261" v="37" actId="478"/>
        <pc:sldMkLst>
          <pc:docMk/>
          <pc:sldMk cId="0" sldId="267"/>
        </pc:sldMkLst>
        <pc:spChg chg="del">
          <ac:chgData name="Alan Harrah" userId="9dbaa1db5e5d5f04" providerId="LiveId" clId="{D4502DDC-EA26-47E9-A453-E89952727A4D}" dt="2026-08-11T15:02:35.781" v="35" actId="478"/>
          <ac:spMkLst>
            <pc:docMk/>
            <pc:sldMk cId="0" sldId="267"/>
            <ac:spMk id="5" creationId="{00000000-0000-0000-0000-000000000000}"/>
          </ac:spMkLst>
        </pc:spChg>
        <pc:cxnChg chg="del">
          <ac:chgData name="Alan Harrah" userId="9dbaa1db5e5d5f04" providerId="LiveId" clId="{D4502DDC-EA26-47E9-A453-E89952727A4D}" dt="2026-08-11T15:02:38.853" v="36" actId="478"/>
          <ac:cxnSpMkLst>
            <pc:docMk/>
            <pc:sldMk cId="0" sldId="267"/>
            <ac:cxnSpMk id="7" creationId="{00000000-0000-0000-0000-000000000000}"/>
          </ac:cxnSpMkLst>
        </pc:cxnChg>
        <pc:cxnChg chg="del">
          <ac:chgData name="Alan Harrah" userId="9dbaa1db5e5d5f04" providerId="LiveId" clId="{D4502DDC-EA26-47E9-A453-E89952727A4D}" dt="2026-08-11T15:02:41.261" v="37" actId="478"/>
          <ac:cxnSpMkLst>
            <pc:docMk/>
            <pc:sldMk cId="0" sldId="267"/>
            <ac:cxnSpMk id="8" creationId="{00000000-0000-0000-0000-000000000000}"/>
          </ac:cxnSpMkLst>
        </pc:cxnChg>
      </pc:sldChg>
      <pc:sldChg chg="add">
        <pc:chgData name="Alan Harrah" userId="9dbaa1db5e5d5f04" providerId="LiveId" clId="{D4502DDC-EA26-47E9-A453-E89952727A4D}" dt="2026-08-05T16:00:33.501" v="0"/>
        <pc:sldMkLst>
          <pc:docMk/>
          <pc:sldMk cId="0" sldId="268"/>
        </pc:sldMkLst>
      </pc:sldChg>
      <pc:sldChg chg="del">
        <pc:chgData name="Alan Harrah" userId="9dbaa1db5e5d5f04" providerId="LiveId" clId="{D4502DDC-EA26-47E9-A453-E89952727A4D}" dt="2026-08-10T17:33:54.620" v="28" actId="2696"/>
        <pc:sldMkLst>
          <pc:docMk/>
          <pc:sldMk cId="584415632" sldId="277"/>
        </pc:sldMkLst>
      </pc:sldChg>
      <pc:sldChg chg="add">
        <pc:chgData name="Alan Harrah" userId="9dbaa1db5e5d5f04" providerId="LiveId" clId="{D4502DDC-EA26-47E9-A453-E89952727A4D}" dt="2026-08-11T15:01:29.376" v="32"/>
        <pc:sldMkLst>
          <pc:docMk/>
          <pc:sldMk cId="0" sldId="288"/>
        </pc:sldMkLst>
      </pc:sldChg>
      <pc:sldChg chg="add">
        <pc:chgData name="Alan Harrah" userId="9dbaa1db5e5d5f04" providerId="LiveId" clId="{D4502DDC-EA26-47E9-A453-E89952727A4D}" dt="2026-08-11T15:01:44.733" v="33"/>
        <pc:sldMkLst>
          <pc:docMk/>
          <pc:sldMk cId="0" sldId="289"/>
        </pc:sldMkLst>
      </pc:sldChg>
      <pc:sldChg chg="add">
        <pc:chgData name="Alan Harrah" userId="9dbaa1db5e5d5f04" providerId="LiveId" clId="{D4502DDC-EA26-47E9-A453-E89952727A4D}" dt="2026-08-11T15:02:10.783" v="34"/>
        <pc:sldMkLst>
          <pc:docMk/>
          <pc:sldMk cId="0" sldId="290"/>
        </pc:sldMkLst>
      </pc:sldChg>
      <pc:sldChg chg="add">
        <pc:chgData name="Alan Harrah" userId="9dbaa1db5e5d5f04" providerId="LiveId" clId="{D4502DDC-EA26-47E9-A453-E89952727A4D}" dt="2026-08-11T15:03:34.518" v="38"/>
        <pc:sldMkLst>
          <pc:docMk/>
          <pc:sldMk cId="0" sldId="291"/>
        </pc:sldMkLst>
      </pc:sldChg>
      <pc:sldChg chg="del">
        <pc:chgData name="Alan Harrah" userId="9dbaa1db5e5d5f04" providerId="LiveId" clId="{D4502DDC-EA26-47E9-A453-E89952727A4D}" dt="2026-08-10T17:31:44.225" v="16" actId="2696"/>
        <pc:sldMkLst>
          <pc:docMk/>
          <pc:sldMk cId="2288710578" sldId="490"/>
        </pc:sldMkLst>
      </pc:sldChg>
      <pc:sldChg chg="del">
        <pc:chgData name="Alan Harrah" userId="9dbaa1db5e5d5f04" providerId="LiveId" clId="{D4502DDC-EA26-47E9-A453-E89952727A4D}" dt="2026-08-10T17:31:50.843" v="18" actId="2696"/>
        <pc:sldMkLst>
          <pc:docMk/>
          <pc:sldMk cId="789748116" sldId="491"/>
        </pc:sldMkLst>
      </pc:sldChg>
      <pc:sldChg chg="del">
        <pc:chgData name="Alan Harrah" userId="9dbaa1db5e5d5f04" providerId="LiveId" clId="{D4502DDC-EA26-47E9-A453-E89952727A4D}" dt="2026-08-10T17:33:33.627" v="27" actId="2696"/>
        <pc:sldMkLst>
          <pc:docMk/>
          <pc:sldMk cId="3762844438" sldId="785"/>
        </pc:sldMkLst>
      </pc:sldChg>
      <pc:sldChg chg="del">
        <pc:chgData name="Alan Harrah" userId="9dbaa1db5e5d5f04" providerId="LiveId" clId="{D4502DDC-EA26-47E9-A453-E89952727A4D}" dt="2026-08-10T17:31:46.982" v="17" actId="2696"/>
        <pc:sldMkLst>
          <pc:docMk/>
          <pc:sldMk cId="3244409638" sldId="2432"/>
        </pc:sldMkLst>
      </pc:sldChg>
      <pc:sldMasterChg chg="del delSldLayout">
        <pc:chgData name="Alan Harrah" userId="9dbaa1db5e5d5f04" providerId="LiveId" clId="{D4502DDC-EA26-47E9-A453-E89952727A4D}" dt="2026-08-10T17:33:33.627" v="27" actId="2696"/>
        <pc:sldMasterMkLst>
          <pc:docMk/>
          <pc:sldMasterMk cId="1495423432" sldId="2147483806"/>
        </pc:sldMasterMkLst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3469890901" sldId="2147483807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1544825180" sldId="2147483808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3613692839" sldId="2147483809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4190762580" sldId="2147483810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2725948015" sldId="2147483811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1794033714" sldId="2147483812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3879455876" sldId="2147483813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3808016834" sldId="2147483814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990561234" sldId="2147483815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2357840846" sldId="2147483816"/>
          </pc:sldLayoutMkLst>
        </pc:sldLayoutChg>
        <pc:sldLayoutChg chg="del">
          <pc:chgData name="Alan Harrah" userId="9dbaa1db5e5d5f04" providerId="LiveId" clId="{D4502DDC-EA26-47E9-A453-E89952727A4D}" dt="2026-08-10T17:33:33.627" v="27" actId="2696"/>
          <pc:sldLayoutMkLst>
            <pc:docMk/>
            <pc:sldMasterMk cId="1495423432" sldId="2147483806"/>
            <pc:sldLayoutMk cId="3843368881" sldId="214748381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64BDD-44D9-45C2-AFF4-F87C037EA13C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5173D-6D72-4F16-978F-DA0CAE92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4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73D-6D72-4F16-978F-DA0CAE92B6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57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B2FF-8EF4-471F-ABF8-8B1648F9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9885D-2F6F-4367-921C-CED135B0C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5A935-283B-4ED9-AE94-5C986B60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63C18-2159-4A68-9E31-19797E14E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FF84D-2F59-4DCF-A089-CE416DF4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834A60-D54E-4273-BAF1-E5A0D38DD9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1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D2F00-C9A1-46ED-8DDF-4CE7E032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47B2E-08F2-4738-9BE0-660ECA89A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B76AD-BD4E-495B-910F-A49CA421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C72D7-E8A5-4673-A390-EE7C10B6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89F8D-2C30-4306-A81A-9B1327E5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3EBF01-D49B-4B90-BA7A-0A7FB1CE9D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6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7114-E1B1-4CF3-B65D-BFB37202D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3BF54-C778-429F-828A-0F29DB3DD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5730A-9026-4A66-B46A-0C4D1F0D3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6E2EF-6C76-4933-BBB2-07E36518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FFBE5-B669-4CE9-AD69-C99BE4A1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9B12EF-5851-4A7F-9231-897D6C0E98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16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BDB50-EE39-469F-ADE3-C97F9708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AEEEA-DFD0-4D05-B2E8-5C241738D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E2B6F-D44A-45CB-B5B1-BD3D47159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41F5B-996C-4972-98D4-151AAFA4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4CF29-49B2-4DA2-8F33-D14EAB66B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78B89-67AD-46A7-8E88-4C0D17C5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B2149A-2AAC-4D12-973C-0A0C11186E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3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5BBC-FBA6-4E29-A068-4F97007C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4E49A-5796-43CF-AB2E-D8D02279E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7BC7A-5B97-4623-9ABF-511F96A55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244E5-8D7F-421B-A97B-FA8491BEFC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3D90E8-F06F-4F56-8987-4052A30B6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FBA613-3F87-41A3-81B0-9A0AF9D5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AE538-F361-46FA-8EF3-8E4E6722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970F5-4F10-425B-BF88-ADB20F49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34F8-707D-44C6-B2F3-7812D507BB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4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77F69-BF3D-4245-8193-1095147C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A45B11-428C-43DF-A5AE-55B20444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26B4A-0870-4102-B4D7-63246F5C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69FAC-3024-4C7D-97A2-339EA80D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86A13-0C81-4F6E-9F8C-6A03E5CCC0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BAF4A6-2F8F-4F31-A8D3-F5C4DA82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81FC8-4C8F-4872-86D5-A352003F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23828-24AB-4380-829B-7FE91F66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51BA32-B0D7-4B51-8971-0A520552CB3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3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C6DD-E0D9-4B04-A91D-8519A452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A0DC4-221B-4541-B9E5-26A89AAD4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2B344-BF79-4396-908C-9AADEB61C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F77E1-6694-4286-B92E-76FE6204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0A850-6BEA-4EEF-98A4-05970D1A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426D5-6EC4-447A-A028-193C4B8F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526CB6-DE20-49C5-B3A0-E5C82C52CE7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5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5D64-A656-44BC-AF99-152D10A46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6822E-1617-465A-AEA2-C6DFD1B2A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83241-A31F-46C9-8676-A4D4E66C0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8173B-3DEE-4AF7-ABBA-8964FA11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2ADF8-619B-4D7D-99AF-94322662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599A0-CC88-4BF7-9C73-BC86DDE7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D4694-BB5D-430E-A796-1DE15BBD68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2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62DF-58E4-4818-A73E-FF503D69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5DE02-F2D6-4808-8BE4-57FFBEEA8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E2F8-05E5-4025-9713-6A0099DA2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239F1-6ECD-4579-9053-EFC20EB2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8EDEA-4DBE-4219-8868-798665DB5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6671DE-DA2A-4FB8-9C7E-269CF0547D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7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D23013-11D2-4E47-BC2D-A557A6548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DFCB8-386C-47A3-870B-BBCD819A0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D0660-22B1-47EE-854F-B9CF2FAB7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5DDC7-08ED-4C46-8A51-E16A5D66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8EF63-BEBB-425E-9D37-44D632E6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912F7C-C1AE-4D66-B9EE-6A3E35A830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73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6219" y="238581"/>
            <a:ext cx="7171562" cy="457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9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053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553200" y="6396398"/>
            <a:ext cx="2133600" cy="304440"/>
          </a:xfrm>
          <a:prstGeom prst="rect">
            <a:avLst/>
          </a:prstGeom>
        </p:spPr>
        <p:txBody>
          <a:bodyPr wrap="square" lIns="65023" tIns="65023" rIns="65023" bIns="65023" anchor="b"/>
          <a:lstStyle>
            <a:lvl1pPr algn="r" defTabSz="642915">
              <a:defRPr sz="1125">
                <a:effectLst>
                  <a:outerShdw blurRad="12700" dist="25400" dir="2700000" rotWithShape="0">
                    <a:srgbClr val="000000"/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r" defTabSz="642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6429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12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>
                <a:outerShdw blurRad="12700" dist="25400" dir="2700000" rotWithShape="0">
                  <a:srgbClr val="000000"/>
                </a:outerShdw>
              </a:effectLst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6297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722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="1" i="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147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="1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0450"/>
            <a:ext cx="4038600" cy="5340350"/>
          </a:xfrm>
        </p:spPr>
        <p:txBody>
          <a:bodyPr/>
          <a:lstStyle>
            <a:lvl1pPr marL="231775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6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375" indent="-223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4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2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7575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2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6175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0450"/>
            <a:ext cx="4038600" cy="5340350"/>
          </a:xfrm>
        </p:spPr>
        <p:txBody>
          <a:bodyPr/>
          <a:lstStyle>
            <a:lvl1pPr marL="231775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6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375" indent="-223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6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6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7575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6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6175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anose="05000000000000000000" pitchFamily="2" charset="2"/>
              <a:buChar char="§"/>
              <a:defRPr lang="en-US" sz="1600" b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5537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="1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43682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14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47B1-CCA1-4336-BE17-4DDDDD28430A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25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4A3B1-3CC5-43F9-B1C2-84A9127AE25D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31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86452-694B-4F65-9DD5-8C884861E7AF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579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2ECF-A42A-4A3E-9753-5FD3CFCC22F9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48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C82-CC21-4EA3-ACAC-FA651139C31E}" type="datetime1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29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B6797-1B0C-4B6B-89FC-C791656E73A5}" type="datetime1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628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614F-DE7A-4433-8D3F-BDE1FB79805E}" type="datetime1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09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32D5-E166-40BF-A071-68972094D50A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495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67C6-0601-4B81-8BD1-E4B8AC4CE3A7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952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ADA66-0717-4279-9080-47700D11B782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72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F981A-04C9-45D2-A516-F638DDF16241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41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rse/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41925" y="1302040"/>
            <a:ext cx="846015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1925" y="100269"/>
            <a:ext cx="7883768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Course/Lesson outline</a:t>
            </a:r>
          </a:p>
        </p:txBody>
      </p:sp>
    </p:spTree>
    <p:extLst>
      <p:ext uri="{BB962C8B-B14F-4D97-AF65-F5344CB8AC3E}">
        <p14:creationId xmlns:p14="http://schemas.microsoft.com/office/powerpoint/2010/main" val="27048118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1925" y="100269"/>
            <a:ext cx="7883768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41925" y="1302040"/>
            <a:ext cx="8460150" cy="4481345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0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0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0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8585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Fi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1925" y="1302040"/>
            <a:ext cx="8460150" cy="4920960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4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4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1925" y="100269"/>
            <a:ext cx="7883768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514278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ttom Fi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41925" y="1302040"/>
            <a:ext cx="8460150" cy="4481345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4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4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01283-2C11-4595-B2C2-80FB4D75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96043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FA8B29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BD3EA-C9A2-4087-91D1-FA49794E75BF}" type="datetime1">
              <a:rPr lang="en-US" smtClean="0"/>
              <a:t>8/19/26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5214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0">
    <p:bg>
      <p:bgPr>
        <a:gradFill flip="none" rotWithShape="1">
          <a:gsLst>
            <a:gs pos="0">
              <a:srgbClr val="000058"/>
            </a:gs>
            <a:gs pos="100000">
              <a:srgbClr val="00009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553200" y="6396398"/>
            <a:ext cx="2133600" cy="304440"/>
          </a:xfrm>
          <a:prstGeom prst="rect">
            <a:avLst/>
          </a:prstGeom>
        </p:spPr>
        <p:txBody>
          <a:bodyPr wrap="square" lIns="65023" tIns="65023" rIns="65023" bIns="65023" anchor="b"/>
          <a:lstStyle>
            <a:lvl1pPr algn="r" defTabSz="642915">
              <a:defRPr sz="1125">
                <a:effectLst>
                  <a:outerShdw blurRad="12700" dist="25400" dir="2700000" rotWithShape="0">
                    <a:srgbClr val="000000"/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83491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DCEA-16F4-4B66-9F29-14E1679F6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2FE90-E1E6-4A3D-A494-1DFB3767B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7B6EB-3EED-4E27-A9F3-870437828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445F7-73DA-4974-B46B-E324821B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A7270-7A93-4242-B1C6-2AE78B53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038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26F3-86C5-4858-A738-BF8A38B0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1C34D-AEA8-4BA6-BB41-BC044FDA4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F928A-D5CD-4125-A330-8847A528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40737-3FA7-4FEA-98BF-C3DDD0B2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A0628-978A-4FE1-A28E-511D5B30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45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AF32-1389-4C42-81C1-0B4B5DD5D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C42E0-915A-4E26-BA88-CE4523FAB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E17DF-35F9-48FA-BAD2-E55CC395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F8337-EA3A-4770-8CAF-DBC020F4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98034-A576-4662-A4F4-8D5760D6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36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2248-88DA-462D-B4B5-72E39529E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268E0-2A57-4A53-B001-A8938874A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FDA0F-3479-4BA5-94F7-1DC44E329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A13F6-FFB4-4905-AAF8-87BCC72E8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44471-9AF5-4BF4-9772-4D26ADCDC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4A888-B801-42D1-A08A-F9894F3B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025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9CB7-AD25-4A21-9AD3-46471EA2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8393D-1587-41B8-8866-950D27A20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8EF29-AB63-45A9-9DDF-20EF4F8B8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3D63E-A289-4ED7-A6B6-17CF7294D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4ABE2-F80D-4C71-9638-7D9F4559F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27D7DE-DB51-41F6-8F03-9D3689C5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3D242-F6FF-4997-BA83-1A2C7459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68144-BB66-4829-8D4B-4C787876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606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C6F7-0434-423E-A3B6-AEE4A4AA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A55105-3B33-48F5-B859-D22AE930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D7869-A683-4040-A57B-29416F9B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919C2-568C-4FE1-946E-43717A00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969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7FD89-2239-4B92-A61F-8D58C5504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91DD9-BC29-445A-9455-E7724BD0F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393F3-6A50-4B7A-B3BD-B3641F92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052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1B985-FB65-418A-9F70-79262A995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B1D02-9BE4-4541-B479-23F71AF93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B22AF-BE55-4EC8-9EC0-940FE4A76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9DFEA-D03E-453E-BD03-345011FB2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7DF57-94D2-4A4D-88B4-11CAF7FB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E437D-3752-4D17-B1AA-31302FDC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876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91F9-6B41-4424-9D40-A44C0ABA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CE3602-A021-429C-9953-5A1D98319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C950F-47FA-4CFE-9D82-DEED3CA18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7C464-E5A4-4EA8-9015-22F39AD2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44E77-AF66-4264-BF71-952A8F99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394F9-EC42-4D04-88B0-AD4CDD49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564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CE8A-1321-49F0-8046-7BAE17F4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105F4-A7E0-4086-BE0F-9A5DF4839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084F6-48BA-467F-BC21-367609E4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D4ADE-336C-496A-8A43-6F217441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56912-6188-4C48-A0FB-EBDA2A9B7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557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4D72B-7F43-43D4-B546-3AC788F01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05D8C-6D13-4949-A7DA-2613DC679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565C4-004F-4E80-A51F-04E2F189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C1515-D6FF-4516-876A-D8984D69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9F09B-E240-43A9-A2C3-F490EB7B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448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F0933-A7CC-450B-83B3-BF6EC0CD7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83618-3C9B-4E6C-AF3B-8D5D55EEC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B321C-3393-4B28-A3EC-09B720C7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9D636-1E15-449A-BE3E-7309ADDE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6C65D-B4B1-4541-9041-201E8508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494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30F5-6F00-42A8-B792-3AE43A83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E50F8-0A4D-4573-BA82-2426DBA3C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F1BCB-16BC-4DC0-A65D-682BFC72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475B2-7F6C-42FF-AE75-8554A1FC6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E01D8-21BE-4745-B5CB-CD9D9D4DF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108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DF2D-9C40-4784-A50D-74DB736F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48E99-732D-4A43-B54F-E2746D36D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A942E-36C5-43E3-80DD-A74FE24C1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D490B-0B16-4F04-A03C-14F1D405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04C50-A4F7-4591-8DD5-DDF4D0BF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320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C88D-4F3D-4013-A442-E565D1DF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55B0F-C938-42D0-9F33-EC3C0B515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0D6CF-41BE-4D86-8A93-F245997A7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DE7E5-F493-48D2-A721-6BC6D688A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E299B-9CBF-4B6E-9795-5C3D141F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36260-8F8A-49AC-AD08-BDE67386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637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F5C5-A4ED-406B-A552-010F59F8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0C625-CFDF-4CD8-A396-13882ABF5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CD8AF-2DCF-4EF2-B5D4-1199E5B23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8BFEE-A5AA-48A4-8952-87A95B78E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1F29A-8A1B-492D-AAFC-B8C009367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6653A-EA85-4706-8B01-284F661B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5E272A-8CED-427B-9F6E-566B07DA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DE06D-8A50-4B99-8549-1F4D7E64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579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7A162-DB04-4ADE-A68F-FAE1B30B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5FA7B-8C3A-4803-BBB3-AF5E975F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DA659-3A68-48D3-A9E7-732D19C5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11894-F0CD-449F-9C03-01F8F473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279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671547-AC85-4D19-AE7F-28E10C56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C1499-88DA-4E02-928B-28262413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EF39-D3F2-484D-A1FD-ADC70A98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472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1865-2BB9-4607-97CF-EDF1DC40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BEFF8-B759-4218-BF79-0162FD334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4A870-B1BB-43B9-9D89-1CA71C210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94F97-DD32-4E8C-AFA3-E010D82AC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1FDD3-E212-49CA-BD2E-A4C0036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19310-39A4-480C-8D4B-EFB218AE0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518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C4047-274B-4047-9BDA-36BA7808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5B7DA-9FAC-438F-96EE-9FD4AB3A2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459BF-175D-4A07-A96F-5F52C9BB8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73D59-DC40-4710-B2A7-C79F94EE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D6F78-D998-4B8F-A441-2FF55893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983E8-BB5C-419B-A272-DA2C0F0AD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282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084C-C2CA-44BC-B476-E77FAD2B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C35EA-7F92-483B-96D4-852549BE7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55CF6-C9C9-4855-AC23-668465831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0B4F0-0BE8-4D4E-B14E-7933079A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F66FA-CFDB-462A-B77B-E1855E0A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9077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59C80-D896-4CA1-8CB2-B0968E4E9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F8F67-E1C2-4A30-A9BB-5FFAEC7B3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8DA59-9178-4198-9A16-D724D218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99194-CC74-4EE0-AAAC-15CC8970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EF09C-7991-4ED6-9CB5-351D92DE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093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7F8F-4F82-62D7-18F6-26443AC7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BB273-0105-2860-EF46-A65C29C22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A2DEA-0CFC-25A8-974B-B33F88323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C2BB1-8734-DCF6-E054-4121476B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A7ED6-0E3F-ED22-28C5-16BD441B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109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C029-9F8A-5493-469D-1CF1DF245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B8C26-46DF-2606-C21C-C1C2610BA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98D0-4B94-54BE-8420-465AB182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C0046-FE6C-FC39-1E6D-2F5064C6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88E83-87A9-F46C-8422-4E65E458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048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5CA6-6656-F87A-2CFF-76A4DCE5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6A3ED-F4DC-AC40-AEFE-807992534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D06CC-3EBB-F920-9AA4-767F16B1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90EF1-9203-D993-4942-6BF29F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E04D9-EC70-D37D-4018-98D559CD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5597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4DDD-00BC-6C30-6336-E2D773B9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154D3-82E7-3F67-E91E-FA303A4C2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74615-3FF1-8EC6-FA65-332855418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1B19B-63BF-2537-2AFC-0E02134D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1F9AB-8A8D-78AF-E58D-B3683CB0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323E2-3E3A-796F-262B-2B78E7FA3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052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07EC-3D73-17EA-1F4C-7BC35F3F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4A5D2-E15B-2AB4-C6FF-B59F0DB4E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ADB74-B26F-7024-4198-A082CC8AA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A222F-43E9-FE3B-F75D-36EDDBD93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0E7F0F-A6DB-F5E3-FBB9-0163017BB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22C74-8931-B1A8-597D-290E09BC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87CF42-D6D1-EA72-B164-B9E591C2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490AA1-2CB8-BCE3-F3AC-7A429F17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511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B99E-82E6-FF8C-5CDB-DECCDE243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6DC78-630D-7A71-08DF-C84AC03BE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39A29-23D4-CFF1-9644-93E4DA5E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87C1A-AE63-8B78-C3BC-CCD88AD5A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639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1CAE0E-EB38-EF1A-1729-1664543D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4EA42-8D39-3034-8258-CD70AC0DA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CD80F-0D09-57DA-55A4-785578826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763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EB86-182B-8FC2-6F82-9C50C251D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0300D-CD37-9760-850C-8B86E2E4C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BF997-30F4-D5C6-CC23-36AD950F0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B0EB8-7AA7-86A8-171C-A393D921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0CAB0-7752-2431-DA90-7EAF3658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F447F-0A29-C34E-5616-603FF37D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021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55B-0E08-D385-273B-74A8483D6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7015-7BF1-6572-33B0-425807552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B9AB3-AF89-BD27-DC78-B9154DA15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DE400-FFF6-BC54-0FFA-72C46989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E6950-5693-4C11-9FBD-508652AE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5E4E9-B083-ADF0-51C4-6949E6C8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9133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E3BA-2783-98F3-48D1-7BA48A218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376F0-9D49-FE91-176A-023D60EF5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5247D-77D8-8E83-C975-B0771A3E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D7BED-C795-9413-CC15-92ECF3F7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43E4D-452D-8640-8995-426D5F0B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359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9D6E9F-E3ED-DC91-6740-B41AFA358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229AD-93A5-8585-01EC-822253247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F7EB2-2F92-43E0-1078-02A019B1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CB2A4-39D9-857C-4095-AA722FCC6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3FA82-5D13-FF41-B54E-5665C3C5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486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2448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N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F1F1F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268224" y="60960"/>
            <a:ext cx="11704320" cy="82905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940627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NER_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268224" y="60960"/>
            <a:ext cx="11704320" cy="82905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2198833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NER_DARK_S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268224" y="60960"/>
            <a:ext cx="11704320" cy="82905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533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defRPr>
            </a:lvl1pPr>
          </a:lstStyle>
          <a:p>
            <a:pPr marL="0" indent="0" algn="l">
              <a:buNone/>
            </a:pPr>
            <a:endParaRPr lang="en-US" sz="2533" dirty="0"/>
          </a:p>
        </p:txBody>
      </p:sp>
    </p:spTree>
    <p:extLst>
      <p:ext uri="{BB962C8B-B14F-4D97-AF65-F5344CB8AC3E}">
        <p14:creationId xmlns:p14="http://schemas.microsoft.com/office/powerpoint/2010/main" val="419970414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26720" y="146304"/>
            <a:ext cx="11338560" cy="877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67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marL="0" indent="0" algn="l">
              <a:buNone/>
            </a:pPr>
            <a:endParaRPr lang="en-US" sz="4267" dirty="0"/>
          </a:p>
        </p:txBody>
      </p:sp>
    </p:spTree>
    <p:extLst>
      <p:ext uri="{BB962C8B-B14F-4D97-AF65-F5344CB8AC3E}">
        <p14:creationId xmlns:p14="http://schemas.microsoft.com/office/powerpoint/2010/main" val="12390614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65760" y="24384"/>
            <a:ext cx="11460480" cy="5608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533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marL="0" indent="0" algn="ctr">
              <a:buNone/>
            </a:pPr>
            <a:endParaRPr lang="en-US" sz="2533" dirty="0"/>
          </a:p>
        </p:txBody>
      </p:sp>
    </p:spTree>
    <p:extLst>
      <p:ext uri="{BB962C8B-B14F-4D97-AF65-F5344CB8AC3E}">
        <p14:creationId xmlns:p14="http://schemas.microsoft.com/office/powerpoint/2010/main" val="331370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72BDB-356B-45C2-BD0F-1351E770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38687-83D4-42D2-8F8A-CEDE68CD8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F3B43-076D-46B6-B474-DD2E3FBA5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8173A-AA87-40A0-A114-3A1BE951E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62F24-1D4E-419C-B53F-6228AA467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DABF2-8568-4284-A42E-6743BE8BA1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53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818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0450"/>
            <a:ext cx="82296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1613"/>
            <a:ext cx="68532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13"/>
          <p:cNvSpPr>
            <a:spLocks noChangeArrowheads="1"/>
          </p:cNvSpPr>
          <p:nvPr/>
        </p:nvSpPr>
        <p:spPr bwMode="white">
          <a:xfrm>
            <a:off x="8178800" y="6551613"/>
            <a:ext cx="965200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895" tIns="41272" rIns="88895" bIns="41272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tabLst>
                <a:tab pos="857250" algn="r"/>
              </a:tabLst>
            </a:pPr>
            <a:r>
              <a:rPr lang="en-US" sz="800" dirty="0">
                <a:solidFill>
                  <a:srgbClr val="C4C4C4"/>
                </a:solidFill>
              </a:rPr>
              <a:t>OV 7 - </a:t>
            </a:r>
            <a:fld id="{B4BB2389-B011-493F-BC0E-7785D9F75971}" type="slidenum">
              <a:rPr lang="en-US" sz="800">
                <a:solidFill>
                  <a:srgbClr val="C4C4C4"/>
                </a:solidFill>
              </a:rPr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tabLst>
                  <a:tab pos="857250" algn="r"/>
                </a:tabLst>
              </a:pPr>
              <a:t>‹#›</a:t>
            </a:fld>
            <a:endParaRPr lang="en-US" sz="800" dirty="0">
              <a:solidFill>
                <a:srgbClr val="C4C4C4"/>
              </a:solidFill>
            </a:endParaRPr>
          </a:p>
        </p:txBody>
      </p:sp>
      <p:sp>
        <p:nvSpPr>
          <p:cNvPr id="1029" name="Rectangle 14"/>
          <p:cNvSpPr>
            <a:spLocks noChangeArrowheads="1"/>
          </p:cNvSpPr>
          <p:nvPr/>
        </p:nvSpPr>
        <p:spPr bwMode="auto">
          <a:xfrm>
            <a:off x="-19050" y="6551613"/>
            <a:ext cx="3752850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2" tIns="44447" rIns="90482" bIns="44447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D9D9D9"/>
                </a:solidFill>
              </a:rPr>
              <a:t>Copyright © 2015 </a:t>
            </a:r>
            <a:r>
              <a:rPr lang="en-US" sz="1000" b="1" dirty="0">
                <a:solidFill>
                  <a:srgbClr val="D9D9D9"/>
                </a:solidFill>
              </a:rPr>
              <a:t>Logical Operations, Inc</a:t>
            </a:r>
            <a:r>
              <a:rPr lang="en-US" sz="1000" dirty="0">
                <a:solidFill>
                  <a:srgbClr val="D9D9D9"/>
                </a:solidFill>
              </a:rPr>
              <a:t>. All rights reserved.</a:t>
            </a:r>
          </a:p>
        </p:txBody>
      </p:sp>
      <p:pic>
        <p:nvPicPr>
          <p:cNvPr id="1030" name="Picture 2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667000"/>
            <a:ext cx="16764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586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9pPr>
    </p:titleStyle>
    <p:bodyStyle>
      <a:lvl1pPr marL="231775" indent="-231775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  <a:cs typeface="+mn-cs"/>
        </a:defRPr>
      </a:lvl1pPr>
      <a:lvl2pPr marL="460375" indent="-223838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2pPr>
      <a:lvl3pPr marL="682625" indent="-231775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anose="05000000000000000000" pitchFamily="2" charset="2"/>
        <a:buChar char="§"/>
        <a:defRPr sz="1200">
          <a:solidFill>
            <a:schemeClr val="tx1"/>
          </a:solidFill>
          <a:latin typeface="+mn-lt"/>
        </a:defRPr>
      </a:lvl3pPr>
      <a:lvl4pPr marL="917575" indent="-234950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anose="05000000000000000000" pitchFamily="2" charset="2"/>
        <a:buChar char="§"/>
        <a:defRPr sz="1200">
          <a:solidFill>
            <a:schemeClr val="tx1"/>
          </a:solidFill>
          <a:latin typeface="+mn-lt"/>
        </a:defRPr>
      </a:lvl4pPr>
      <a:lvl5pPr marL="1146175" indent="-231775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anose="05000000000000000000" pitchFamily="2" charset="2"/>
        <a:buChar char="§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D282B-68C1-4B16-8D32-1918642BC939}" type="datetime1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3E96E-F1A9-4EF5-B2C9-961A48B39C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C6EACC1-E313-4AE5-A4B8-7F2A8F65B32A}"/>
              </a:ext>
            </a:extLst>
          </p:cNvPr>
          <p:cNvSpPr txBox="1">
            <a:spLocks/>
          </p:cNvSpPr>
          <p:nvPr userDrawn="1"/>
        </p:nvSpPr>
        <p:spPr>
          <a:xfrm>
            <a:off x="77594" y="6455640"/>
            <a:ext cx="48149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C4C4C4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015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3BB92D-D561-4C21-B507-C187F705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4A874-FF02-4253-BEC4-B2F2A7990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1B779-4BAB-4943-B25C-1A62602A7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E4E86-F587-45CD-A881-52286B9E0E5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B2A8F-5668-45DF-8B2C-E329F03FE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9A6F0-73EA-441C-9C84-6EEE511A6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392EF-A193-4691-A286-D462973B9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2FF88-2EBE-4647-A5F8-2C2B69A0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010A6-BC6F-4AD4-83FB-8A5C154B2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D8D01-7171-4879-B1DB-195E46BD8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0D784-D70A-4932-934A-508BCBD24958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C1AFE-E0BF-415B-BA61-FD560D800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A486-D848-4088-AC5A-34BB8188E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F111D-B477-4ECD-9570-5EED4593C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2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FCDA3E-0C45-F024-1250-1D6F3902F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3C36A-87B3-E2D3-20E6-2B0B2A77B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F0765-6DCA-2BD5-5F5B-2532E64CC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2A340-C39C-44D5-9350-D22C56EA07DF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632A4-2D3B-3E07-6BAB-5961F48E8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80B8-ADE8-93B8-9A0E-9164AB47C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E58E6-9F37-4470-BB26-B89C9402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4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02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partnersllc.com/blog/whats-required-ssae-18-reports/" TargetMode="Externa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9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3" name="Picture 2052" descr="Person holding mouse">
            <a:extLst>
              <a:ext uri="{FF2B5EF4-FFF2-40B4-BE49-F238E27FC236}">
                <a16:creationId xmlns:a16="http://schemas.microsoft.com/office/drawing/2014/main" id="{96714579-2655-DE9A-5160-10D38D71CF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t="12355" b="337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Security Assessment and Testing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pPr eaLnBrk="1" hangingPunct="1"/>
            <a:endParaRPr lang="en-US">
              <a:solidFill>
                <a:srgbClr val="FFFFFF"/>
              </a:solidFill>
            </a:endParaRPr>
          </a:p>
          <a:p>
            <a:pPr eaLnBrk="1" hangingPunct="1"/>
            <a:endParaRPr lang="en-US">
              <a:solidFill>
                <a:srgbClr val="FFFFFF"/>
              </a:solidFill>
            </a:endParaRPr>
          </a:p>
          <a:p>
            <a:pPr eaLnBrk="1" hangingPunct="1"/>
            <a:endParaRPr lang="en-US">
              <a:solidFill>
                <a:srgbClr val="FFFFFF"/>
              </a:solidFill>
            </a:endParaRPr>
          </a:p>
          <a:p>
            <a:pPr eaLnBrk="1" hangingPunct="1"/>
            <a:endParaRPr lang="en-US">
              <a:solidFill>
                <a:srgbClr val="FFFFFF"/>
              </a:solidFill>
            </a:endParaRPr>
          </a:p>
          <a:p>
            <a:pPr eaLnBrk="1" hangingPunct="1"/>
            <a:endParaRPr lang="en-US">
              <a:solidFill>
                <a:srgbClr val="FFFFFF"/>
              </a:solidFill>
            </a:endParaRPr>
          </a:p>
          <a:p>
            <a:pPr eaLnBrk="1" hangingPunct="1"/>
            <a:endParaRPr lang="en-US">
              <a:solidFill>
                <a:srgbClr val="FFFFFF"/>
              </a:solidFill>
            </a:endParaRPr>
          </a:p>
          <a:p>
            <a:pPr eaLnBrk="1" hangingPunct="1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B137AF-D163-4C3C-8062-8A0E31F0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>
            <a:normAutofit/>
          </a:bodyPr>
          <a:lstStyle/>
          <a:p>
            <a:pPr marL="0" marR="0" lvl="0" indent="0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E43E96E-F1A9-4EF5-B2C9-961A48B39CF1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D6F94-ACF0-140B-8F18-69AE6C7BB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3A59CD9D-9829-AAD0-F06B-ADA5D6FBB9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383" b="534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A8CFB7-8FEB-4BAC-1F49-C6953EE60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A451D-E4CC-4B80-AFB6-6E277C4F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0" i="0" u="none" strike="noStrike" baseline="0">
                <a:latin typeface="Times New Roman" panose="02020603050405020304" pitchFamily="18" charset="0"/>
              </a:rPr>
              <a:t>Note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EF44-E737-2837-16E8-F98AE7D3C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684" y="2055803"/>
            <a:ext cx="11067197" cy="4351338"/>
          </a:xfrm>
        </p:spPr>
        <p:txBody>
          <a:bodyPr>
            <a:normAutofit/>
          </a:bodyPr>
          <a:lstStyle/>
          <a:p>
            <a:pPr marR="0" rtl="0"/>
            <a:r>
              <a:rPr lang="en-US" b="0" i="0" u="none" strike="noStrike" baseline="0" dirty="0">
                <a:latin typeface="Times New Roman" panose="02020603050405020304" pitchFamily="18" charset="0"/>
              </a:rPr>
              <a:t>Note that there is significant overlap between this domain and Domain 8: especially regarding application testing. </a:t>
            </a:r>
          </a:p>
          <a:p>
            <a:pPr marR="0" rtl="0"/>
            <a:endParaRPr lang="en-US" b="0" i="0" u="none" strike="noStrike" baseline="0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65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1612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INTRODUCTION:</a:t>
            </a:r>
            <a:r>
              <a:rPr kumimoji="0" sz="2600" b="0" i="0" u="none" strike="noStrike" kern="1200" cap="none" spc="0" normalizeH="0" baseline="0" noProof="0">
                <a:ln>
                  <a:noFill/>
                </a:ln>
                <a:solidFill>
                  <a:srgbClr val="2AD8E8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CISSP EXAM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3268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 w="12700">
                  <a:solidFill>
                    <a:srgbClr val="0F8FA0"/>
                  </a:solidFill>
                </a:ln>
                <a:solidFill>
                  <a:srgbClr val="00E7F0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93268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 w="12700">
                  <a:solidFill>
                    <a:srgbClr val="0F8FA0"/>
                  </a:solidFill>
                </a:ln>
                <a:solidFill>
                  <a:srgbClr val="00E7F0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WEIGHT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00784"/>
          <a:ext cx="10058399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8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1. Security and Risk Management</a:t>
                      </a:r>
                    </a:p>
                  </a:txBody>
                  <a:tcPr marL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15%</a:t>
                      </a:r>
                    </a:p>
                  </a:txBody>
                  <a:tcPr marL="109728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2. Asset Security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10%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3. Security Architecture and  Engineering</a:t>
                      </a:r>
                    </a:p>
                  </a:txBody>
                  <a:tcPr marL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13%</a:t>
                      </a:r>
                    </a:p>
                  </a:txBody>
                  <a:tcPr marL="109728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4. Communication and Network Security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14%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5. Identity and Access Management</a:t>
                      </a:r>
                    </a:p>
                  </a:txBody>
                  <a:tcPr marL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13%</a:t>
                      </a:r>
                    </a:p>
                  </a:txBody>
                  <a:tcPr marL="109728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6. Security Assessment and Testing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12%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7. Security Operations</a:t>
                      </a:r>
                    </a:p>
                  </a:txBody>
                  <a:tcPr marL="109728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13%</a:t>
                      </a:r>
                    </a:p>
                  </a:txBody>
                  <a:tcPr marL="109728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8. Software Development Security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</a:rPr>
                        <a:t>10%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Impact"/>
                <a:ea typeface="Impact"/>
                <a:cs typeface="Impact"/>
              </a:rPr>
              <a:t>SECURITY ASSESSMENT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06070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Security assessment and testing programs</a:t>
            </a: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provides a mechanism for validating the ongoing </a:t>
            </a: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effectiveness of security controls</a:t>
            </a: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, with a variety of tools to validate controls: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944368"/>
            <a:ext cx="6812280" cy="2240280"/>
          </a:xfrm>
          <a:prstGeom prst="rect">
            <a:avLst/>
          </a:prstGeom>
          <a:solidFill>
            <a:srgbClr val="00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4048" y="3054096"/>
            <a:ext cx="621792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-   vulnerability assessments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-   penetration tests, software testing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-   audits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-   security management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742432"/>
            <a:ext cx="12191695" cy="1115567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02920" y="5907024"/>
            <a:ext cx="538581" cy="538581"/>
          </a:xfrm>
          <a:prstGeom prst="ellipse">
            <a:avLst/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1908" y="6480352"/>
            <a:ext cx="260604" cy="0"/>
          </a:xfrm>
          <a:prstGeom prst="line">
            <a:avLst/>
          </a:prstGeom>
          <a:ln w="190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6656" y="6584594"/>
            <a:ext cx="191109" cy="0"/>
          </a:xfrm>
          <a:prstGeom prst="line">
            <a:avLst/>
          </a:prstGeom>
          <a:ln w="190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74519" y="5888736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Every organization should have a security assessment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and testing program defined and operational.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Impact"/>
                <a:ea typeface="Impact"/>
                <a:cs typeface="Impact"/>
              </a:rPr>
              <a:t>ASSESSMENT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 w="12700">
                  <a:solidFill>
                    <a:srgbClr val="0F8FA0"/>
                  </a:solidFill>
                </a:ln>
                <a:solidFill>
                  <a:srgbClr val="00E7F0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Vulnerability Assessments vs Penetration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42416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Vulnerability assessments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use </a:t>
            </a: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automated t</a:t>
            </a: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ools to search for known vulnerabilities in systems, applications, and networks.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flaws may include missing patches, misconfigurations, or faulty code that expose the organization to security risks.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Penetration tests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uses these same tools but supplements them with attack techniques where </a:t>
            </a: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an assessor attempts to exploi</a:t>
            </a: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t vulnerabilities and gain access to the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52135" y="2834640"/>
            <a:ext cx="3129915" cy="384048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Connector 6"/>
          <p:cNvCxnSpPr>
            <a:cxnSpLocks/>
          </p:cNvCxnSpPr>
          <p:nvPr/>
        </p:nvCxnSpPr>
        <p:spPr>
          <a:xfrm>
            <a:off x="5225415" y="5809488"/>
            <a:ext cx="10306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268224" y="60960"/>
            <a:ext cx="1170432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PENETRATION TESTING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219200"/>
            <a:ext cx="670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ln w="12700">
                  <a:solidFill>
                    <a:srgbClr val="000000"/>
                  </a:solidFill>
                </a:ln>
                <a:solidFill>
                  <a:srgbClr val="18DF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Exercise Types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2133600"/>
            <a:ext cx="2438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FF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Red</a:t>
            </a:r>
            <a:r>
              <a:rPr lang="en-US" sz="2667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Team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26080" y="2170176"/>
            <a:ext cx="2438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offense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584704"/>
            <a:ext cx="109728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 internal or external entities dedicated to testing the effectiveness of a security program by emulating the tools and techniques of likely attackers in the most realistic way possible.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3438144"/>
            <a:ext cx="2438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0000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Blue</a:t>
            </a:r>
            <a:r>
              <a:rPr lang="en-US" sz="2667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Team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0" y="3474720"/>
            <a:ext cx="2438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defense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3877056"/>
            <a:ext cx="10972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internal security team that </a:t>
            </a:r>
            <a:r>
              <a:rPr lang="en-US" sz="2000" dirty="0">
                <a:solidFill>
                  <a:srgbClr val="000000"/>
                </a:solidFill>
                <a:highlight>
                  <a:srgbClr val="FFFF66"/>
                </a:highlight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defends against</a:t>
            </a:r>
            <a:r>
              <a:rPr lang="en-US" sz="20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both real attackers and Red Teams.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4389120"/>
            <a:ext cx="26822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Purple</a:t>
            </a:r>
            <a:r>
              <a:rPr lang="en-US" sz="2667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Team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69920" y="4425696"/>
            <a:ext cx="36576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process improvement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828032"/>
            <a:ext cx="10972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exists to ensure and </a:t>
            </a:r>
            <a:r>
              <a:rPr lang="en-US" sz="2000" dirty="0">
                <a:solidFill>
                  <a:srgbClr val="000000"/>
                </a:solidFill>
                <a:highlight>
                  <a:srgbClr val="FFFF66"/>
                </a:highlight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maximize the effectiveness</a:t>
            </a:r>
            <a:r>
              <a:rPr lang="en-US" sz="20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of the Red and Blue teams.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5340096"/>
            <a:ext cx="26822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ln w="19050">
                  <a:solidFill>
                    <a:srgbClr val="000000"/>
                  </a:solidFill>
                </a:ln>
                <a:solidFill>
                  <a:srgbClr val="DCDC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White</a:t>
            </a:r>
            <a:r>
              <a:rPr lang="en-US" sz="2667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Team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48000" y="5376672"/>
            <a:ext cx="3169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judge / referee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5779008"/>
            <a:ext cx="109728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responsible for overseeing an engagement/competition between a Red Team of mock attackers and a Blue Team of actual defenders.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ED9DE21B-6DE3-D7DD-9EA9-06F9285ECA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537"/>
          <a:stretch/>
        </p:blipFill>
        <p:spPr>
          <a:xfrm>
            <a:off x="20" y="108276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F9A48-BF27-6F9B-8C5C-CA5EC6C4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2" y="216542"/>
            <a:ext cx="10515600" cy="779463"/>
          </a:xfrm>
        </p:spPr>
        <p:txBody>
          <a:bodyPr>
            <a:normAutofit/>
          </a:bodyPr>
          <a:lstStyle/>
          <a:p>
            <a:r>
              <a:rPr lang="de-DE" sz="4000" b="0" u="none" strike="noStrike" baseline="0" dirty="0">
                <a:latin typeface="Arial" panose="020B0604020202020204" pitchFamily="34" charset="0"/>
              </a:rPr>
              <a:t>Penetration </a:t>
            </a:r>
            <a:r>
              <a:rPr lang="en-US" sz="4000" b="0" u="none" strike="noStrike" baseline="0" dirty="0">
                <a:latin typeface="Arial" panose="020B0604020202020204" pitchFamily="34" charset="0"/>
              </a:rPr>
              <a:t>Testing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4043A-63BC-6838-2D6E-40A4FED34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722" y="1253331"/>
            <a:ext cx="10515600" cy="4351338"/>
          </a:xfrm>
        </p:spPr>
        <p:txBody>
          <a:bodyPr>
            <a:noAutofit/>
          </a:bodyPr>
          <a:lstStyle/>
          <a:p>
            <a:pPr marR="0" rtl="0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Penetration tests are sometimes controversial. </a:t>
            </a:r>
            <a:br>
              <a:rPr lang="en-US" sz="2400" b="0" i="0" u="none" strike="noStrike" baseline="0" dirty="0">
                <a:latin typeface="Times New Roman" panose="02020603050405020304" pitchFamily="18" charset="0"/>
              </a:rPr>
            </a:br>
            <a:endParaRPr lang="en-US" sz="2400" b="0" i="0" u="none" strike="noStrike" baseline="0" dirty="0">
              <a:latin typeface="Times New Roman" panose="02020603050405020304" pitchFamily="18" charset="0"/>
            </a:endParaRPr>
          </a:p>
          <a:p>
            <a:pPr marR="0" rtl="0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Some argue that a penetration test really tests the skill of the penetration tester, and not the perimeter security of an organization. </a:t>
            </a:r>
            <a:br>
              <a:rPr lang="en-US" sz="2400" b="0" i="0" u="none" strike="noStrike" baseline="0" dirty="0">
                <a:latin typeface="Times New Roman" panose="02020603050405020304" pitchFamily="18" charset="0"/>
              </a:rPr>
            </a:br>
            <a:endParaRPr lang="en-US" sz="2400" b="0" i="0" u="none" strike="noStrike" baseline="0" dirty="0">
              <a:latin typeface="Times New Roman" panose="02020603050405020304" pitchFamily="18" charset="0"/>
            </a:endParaRPr>
          </a:p>
          <a:p>
            <a:pPr marR="0" rtl="0"/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If a pen test is successful, there is value to the organization. </a:t>
            </a:r>
            <a:br>
              <a:rPr lang="en-US" sz="2400" b="0" i="0" u="none" strike="noStrike" baseline="0" dirty="0">
                <a:latin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</a:rPr>
              <a:t>But what if the penetration test fails? Did it fail because there is no perimeter risk?</a:t>
            </a:r>
            <a:br>
              <a:rPr lang="en-US" dirty="0">
                <a:latin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</a:rPr>
              <a:t>Or did it fail because the penetration tester lacked the skill or the time to complete the test? </a:t>
            </a:r>
            <a:br>
              <a:rPr lang="en-US" dirty="0">
                <a:latin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</a:rPr>
              <a:t>Or did it fail because the scope of the penetration test was too narrow?</a:t>
            </a:r>
          </a:p>
          <a:p>
            <a:pPr marR="0" rtl="0"/>
            <a:endParaRPr lang="en-US" sz="2400" b="0" i="0" u="none" strike="noStrike" baseline="0" dirty="0">
              <a:latin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3550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B14C800E-6EF4-C759-109E-0486BC06BC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912" b="981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221F9-383B-B142-9AC6-60921682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0" u="none" strike="noStrike" baseline="0" dirty="0">
                <a:latin typeface="Arial" panose="020B0604020202020204" pitchFamily="34" charset="0"/>
              </a:rPr>
              <a:t>Assuring Confidentiality, Data Integrity, and System Integrity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C6F2-C3A0-5AD0-C5CA-8D7A7236B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R="0" rtl="0"/>
            <a:r>
              <a:rPr lang="en-US" sz="2600" b="0" i="0" u="none" strike="noStrike" baseline="0" dirty="0">
                <a:latin typeface="Times New Roman" panose="02020603050405020304" pitchFamily="18" charset="0"/>
              </a:rPr>
              <a:t>Penetration testers must ensure the confidentiality of any sensitive data that is accessed during the test. </a:t>
            </a:r>
            <a:br>
              <a:rPr lang="en-US" sz="2600" b="0" i="0" u="none" strike="noStrike" baseline="0" dirty="0">
                <a:latin typeface="Times New Roman" panose="02020603050405020304" pitchFamily="18" charset="0"/>
              </a:rPr>
            </a:br>
            <a:endParaRPr lang="en-US" sz="2600" b="0" i="0" u="none" strike="noStrike" baseline="0" dirty="0">
              <a:latin typeface="Times New Roman" panose="02020603050405020304" pitchFamily="18" charset="0"/>
            </a:endParaRPr>
          </a:p>
          <a:p>
            <a:pPr marR="0" rtl="0"/>
            <a:r>
              <a:rPr lang="en-US" sz="2600" b="0" i="0" u="none" strike="noStrike" baseline="0" dirty="0">
                <a:latin typeface="Times New Roman" panose="02020603050405020304" pitchFamily="18" charset="0"/>
              </a:rPr>
              <a:t>If the target of a penetration test is a credit card database, the penetration tester may have no legal right to view or download the credit cards. </a:t>
            </a:r>
            <a:br>
              <a:rPr lang="en-US" sz="2600" b="0" i="0" u="none" strike="noStrike" baseline="0" dirty="0">
                <a:latin typeface="Times New Roman" panose="02020603050405020304" pitchFamily="18" charset="0"/>
              </a:rPr>
            </a:br>
            <a:endParaRPr lang="en-US" sz="2600" b="0" i="0" u="none" strike="noStrike" baseline="0" dirty="0">
              <a:latin typeface="Times New Roman" panose="02020603050405020304" pitchFamily="18" charset="0"/>
            </a:endParaRPr>
          </a:p>
          <a:p>
            <a:pPr marR="0" rtl="0"/>
            <a:r>
              <a:rPr lang="en-US" sz="2600" b="0" i="0" u="none" strike="noStrike" baseline="0" dirty="0">
                <a:latin typeface="Times New Roman" panose="02020603050405020304" pitchFamily="18" charset="0"/>
              </a:rPr>
              <a:t>Testers will often request that a dummy file containing no regulated or sensitive data (sometimes called a flag) be placed in the same area of the system as the credit card data and protected with the same permissions. </a:t>
            </a:r>
            <a:br>
              <a:rPr lang="en-US" sz="2600" b="0" i="0" u="none" strike="noStrike" baseline="0" dirty="0">
                <a:latin typeface="Times New Roman" panose="02020603050405020304" pitchFamily="18" charset="0"/>
              </a:rPr>
            </a:b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75171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DEF77-B52F-8949-5775-BF2FF376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28E818BC-2052-AA08-B17A-0936A7D160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912" b="981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93497-94EF-7D25-4FE5-297D1513C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0" u="none" strike="noStrike" baseline="0" dirty="0">
                <a:latin typeface="Arial" panose="020B0604020202020204" pitchFamily="34" charset="0"/>
              </a:rPr>
              <a:t>Assuring Confidentiality, Data Integrity, and System Integrity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20BC6-1F28-2861-E15A-5249CD850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905" y="2141537"/>
            <a:ext cx="10515600" cy="4351338"/>
          </a:xfrm>
        </p:spPr>
        <p:txBody>
          <a:bodyPr>
            <a:normAutofit/>
          </a:bodyPr>
          <a:lstStyle/>
          <a:p>
            <a:pPr marR="0" rtl="0"/>
            <a:r>
              <a:rPr lang="en-US" b="0" i="0" u="none" strike="noStrike" baseline="0" dirty="0">
                <a:latin typeface="Times New Roman" panose="02020603050405020304" pitchFamily="18" charset="0"/>
              </a:rPr>
              <a:t>This risk must be clearly understood by all parties: tests are often performed during change maintenance windows for this reason.</a:t>
            </a:r>
            <a:br>
              <a:rPr lang="en-US" b="0" i="0" u="none" strike="noStrike" baseline="0" dirty="0">
                <a:latin typeface="Times New Roman" panose="02020603050405020304" pitchFamily="18" charset="0"/>
              </a:rPr>
            </a:br>
            <a:endParaRPr lang="en-US" b="0" i="0" u="none" strike="noStrike" baseline="0" dirty="0">
              <a:latin typeface="Times New Roman" panose="02020603050405020304" pitchFamily="18" charset="0"/>
            </a:endParaRPr>
          </a:p>
          <a:p>
            <a:pPr marR="0" rtl="0"/>
            <a:r>
              <a:rPr lang="en-US" b="0" i="0" u="none" strike="noStrike" baseline="0" dirty="0">
                <a:latin typeface="Times New Roman" panose="02020603050405020304" pitchFamily="18" charset="0"/>
              </a:rPr>
              <a:t>One potential issue that should be discussed before the penetration test commences is the risk of encountering signs of a previous or current successful malicious attack. </a:t>
            </a:r>
            <a:br>
              <a:rPr lang="en-US" b="0" i="0" u="none" strike="noStrike" baseline="0" dirty="0">
                <a:latin typeface="Times New Roman" panose="02020603050405020304" pitchFamily="18" charset="0"/>
              </a:rPr>
            </a:br>
            <a:br>
              <a:rPr lang="en-US" b="0" i="0" u="none" strike="noStrike" baseline="0" dirty="0">
                <a:latin typeface="Times New Roman" panose="02020603050405020304" pitchFamily="18" charset="0"/>
              </a:rPr>
            </a:br>
            <a:endParaRPr lang="en-US" b="0" i="0" u="none" strike="noStrike" baseline="0" dirty="0">
              <a:latin typeface="Times New Roman" panose="02020603050405020304" pitchFamily="18" charset="0"/>
            </a:endParaRPr>
          </a:p>
          <a:p>
            <a:pPr marR="0" rtl="0"/>
            <a:endParaRPr lang="en-US" b="0" i="0" u="none" strike="noStrike" baseline="0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950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AF7BC-5FBE-0FA2-8E13-7350D140F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76BD51FB-A547-69B2-5D53-CC7DAC1F97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4321" b="1140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66CD3-B80F-D74B-66D8-A611FCD3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0" u="none" strike="noStrike" baseline="0">
                <a:latin typeface="Arial" panose="020B0604020202020204" pitchFamily="34" charset="0"/>
              </a:rPr>
              <a:t>Assuring Confidentiality, Data Integrity, and System Integrity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DC767-40A4-5C67-C6A3-0A9CD67F7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8675"/>
            <a:ext cx="10515600" cy="4351338"/>
          </a:xfrm>
        </p:spPr>
        <p:txBody>
          <a:bodyPr>
            <a:normAutofit/>
          </a:bodyPr>
          <a:lstStyle/>
          <a:p>
            <a:pPr marR="0" rtl="0"/>
            <a:r>
              <a:rPr lang="en-US" b="0" i="0" u="none" strike="noStrike" baseline="0" dirty="0">
                <a:latin typeface="Times New Roman" panose="02020603050405020304" pitchFamily="18" charset="0"/>
              </a:rPr>
              <a:t>The integrity of the system is at risk in this case, and the penetration tester </a:t>
            </a:r>
            <a:r>
              <a:rPr lang="en-US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</a:rPr>
              <a:t>should end the penetration test</a:t>
            </a:r>
            <a:r>
              <a:rPr lang="en-US" b="0" i="0" u="none" strike="noStrike" baseline="0" dirty="0">
                <a:latin typeface="Times New Roman" panose="02020603050405020304" pitchFamily="18" charset="0"/>
              </a:rPr>
              <a:t>, and immediately escalate the issue.</a:t>
            </a:r>
            <a:br>
              <a:rPr lang="en-US" b="0" i="0" u="none" strike="noStrike" baseline="0" dirty="0">
                <a:latin typeface="Times New Roman" panose="02020603050405020304" pitchFamily="18" charset="0"/>
              </a:rPr>
            </a:br>
            <a:endParaRPr lang="en-US" b="0" i="0" u="none" strike="noStrike" baseline="0" dirty="0">
              <a:latin typeface="Times New Roman" panose="02020603050405020304" pitchFamily="18" charset="0"/>
            </a:endParaRPr>
          </a:p>
          <a:p>
            <a:pPr marR="0" rtl="0"/>
            <a:r>
              <a:rPr lang="en-US" b="0" i="0" u="none" strike="noStrike" baseline="0" dirty="0">
                <a:latin typeface="Times New Roman" panose="02020603050405020304" pitchFamily="18" charset="0"/>
              </a:rPr>
              <a:t>Finally, the final penetration test report should be protected at a very high level: it contains a roadmap to attack the organization.</a:t>
            </a:r>
          </a:p>
          <a:p>
            <a:pPr marR="0" rtl="0"/>
            <a:endParaRPr lang="en-US" b="0" i="0" u="none" strike="noStrike" baseline="0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451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Impact"/>
                <a:ea typeface="Impact"/>
                <a:cs typeface="Impact"/>
              </a:rPr>
              <a:t>INTERNAL AND EXTERNAL AUDITS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27632"/>
            <a:ext cx="8503920" cy="749808"/>
          </a:xfrm>
          <a:prstGeom prst="rect">
            <a:avLst/>
          </a:prstGeom>
          <a:solidFill>
            <a:srgbClr val="00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1691640"/>
            <a:ext cx="795527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25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Conduct or facilitate internal and third-party audits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68880"/>
            <a:ext cx="106070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Security audits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occur when a 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third party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performs an assessment of the security controls protecting an organization’s information assets.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Internal audits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are performed by an organization’s 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internal staff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and are intended for management use.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External audits are performed by a third-party audit firm and are generally intended for the organization’s governing body.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9595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Comic Sans MS"/>
                <a:cs typeface="Comic Sans MS"/>
              </a:rPr>
              <a:t>Assume audit is 3rd party unless question says otherwise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002A0-8963-272F-0CE2-319A8AA1A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4092277-5B53-56DD-CD07-CD180BEC6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23C41F6-8F46-E3FD-0406-E2ECC1ECD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E8D186-F266-AB7F-2443-301869F04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C46F90-4061-B465-57BE-B906D11C2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91676A-28CE-11F6-C641-3E4AF9255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BBCDE14-A51C-8730-2522-4BD5D9A51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58FCD5-2C58-28B4-8AD3-425C080FF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E5F27-973C-5517-469F-95DB15E3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  <a:latin typeface="Arial" panose="020B0604020202020204" pitchFamily="34" charset="0"/>
              </a:rPr>
              <a:t>SOC Audits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69959-2630-BB34-31C1-1667072E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900" dirty="0">
              <a:latin typeface="Arial" panose="020B0604020202020204" pitchFamily="34" charset="0"/>
            </a:endParaRPr>
          </a:p>
          <a:p>
            <a:r>
              <a:rPr lang="fr-FR" sz="1900" dirty="0">
                <a:latin typeface="Arial" panose="020B0604020202020204" pitchFamily="34" charset="0"/>
              </a:rPr>
              <a:t>Service Organisation </a:t>
            </a:r>
            <a:r>
              <a:rPr lang="en-US" sz="1900" dirty="0">
                <a:latin typeface="Arial" panose="020B0604020202020204" pitchFamily="34" charset="0"/>
              </a:rPr>
              <a:t>Controls are </a:t>
            </a:r>
            <a:r>
              <a:rPr lang="fr-FR" sz="1900" dirty="0">
                <a:latin typeface="Arial" panose="020B0604020202020204" pitchFamily="34" charset="0"/>
              </a:rPr>
              <a:t>a </a:t>
            </a:r>
            <a:r>
              <a:rPr lang="en-US" sz="1900" dirty="0">
                <a:latin typeface="Arial" panose="020B0604020202020204" pitchFamily="34" charset="0"/>
              </a:rPr>
              <a:t>series of accounting </a:t>
            </a:r>
            <a:r>
              <a:rPr lang="fr-FR" sz="1900" dirty="0">
                <a:latin typeface="Arial" panose="020B0604020202020204" pitchFamily="34" charset="0"/>
              </a:rPr>
              <a:t>standards </a:t>
            </a:r>
            <a:r>
              <a:rPr lang="en-US" sz="1900" dirty="0">
                <a:latin typeface="Arial" panose="020B0604020202020204" pitchFamily="34" charset="0"/>
              </a:rPr>
              <a:t>that measure the control of financial information for a service organization. </a:t>
            </a:r>
            <a:br>
              <a:rPr lang="en-US" sz="1900" dirty="0">
                <a:latin typeface="Arial" panose="020B0604020202020204" pitchFamily="34" charset="0"/>
              </a:rPr>
            </a:br>
            <a:endParaRPr lang="en-US" sz="1900" dirty="0">
              <a:latin typeface="Arial" panose="020B0604020202020204" pitchFamily="34" charset="0"/>
            </a:endParaRPr>
          </a:p>
          <a:p>
            <a:r>
              <a:rPr lang="en-US" sz="1900" dirty="0">
                <a:highlight>
                  <a:srgbClr val="FFFF00"/>
                </a:highlight>
                <a:latin typeface="Arial" panose="020B0604020202020204" pitchFamily="34" charset="0"/>
              </a:rPr>
              <a:t>SOC1</a:t>
            </a:r>
            <a:r>
              <a:rPr lang="en-US" sz="1900" dirty="0">
                <a:latin typeface="Arial" panose="020B0604020202020204" pitchFamily="34" charset="0"/>
              </a:rPr>
              <a:t> - Also known as the </a:t>
            </a:r>
            <a:r>
              <a:rPr lang="en-US" sz="1900" dirty="0"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SSAE 18</a:t>
            </a:r>
            <a:r>
              <a:rPr lang="en-US" sz="1900" dirty="0">
                <a:latin typeface="Arial" panose="020B0604020202020204" pitchFamily="34" charset="0"/>
              </a:rPr>
              <a:t>, focuses on </a:t>
            </a:r>
            <a:r>
              <a:rPr lang="en-US" sz="1900" dirty="0">
                <a:highlight>
                  <a:srgbClr val="FFFF00"/>
                </a:highlight>
                <a:latin typeface="Arial" panose="020B0604020202020204" pitchFamily="34" charset="0"/>
              </a:rPr>
              <a:t>financial</a:t>
            </a:r>
            <a:r>
              <a:rPr lang="en-US" sz="1900" dirty="0">
                <a:latin typeface="Arial" panose="020B0604020202020204" pitchFamily="34" charset="0"/>
              </a:rPr>
              <a:t> reporting</a:t>
            </a:r>
          </a:p>
          <a:p>
            <a:pPr lvl="1"/>
            <a:r>
              <a:rPr lang="en-US" sz="1900" dirty="0">
                <a:latin typeface="Arial" panose="020B0604020202020204" pitchFamily="34" charset="0"/>
              </a:rPr>
              <a:t>Type 1 = Fixed point in time</a:t>
            </a:r>
          </a:p>
          <a:p>
            <a:pPr lvl="1"/>
            <a:r>
              <a:rPr lang="en-US" sz="1900" dirty="0">
                <a:latin typeface="Arial" panose="020B0604020202020204" pitchFamily="34" charset="0"/>
              </a:rPr>
              <a:t>Type 2 = Considered over at least a 6-month period</a:t>
            </a:r>
            <a:br>
              <a:rPr lang="en-US" sz="1900" dirty="0">
                <a:latin typeface="Arial" panose="020B0604020202020204" pitchFamily="34" charset="0"/>
              </a:rPr>
            </a:br>
            <a:endParaRPr lang="en-US" sz="1900" dirty="0">
              <a:latin typeface="Arial" panose="020B0604020202020204" pitchFamily="34" charset="0"/>
            </a:endParaRPr>
          </a:p>
          <a:p>
            <a:r>
              <a:rPr lang="en-US" sz="1900" dirty="0">
                <a:highlight>
                  <a:srgbClr val="FFFF00"/>
                </a:highlight>
                <a:latin typeface="Arial" panose="020B0604020202020204" pitchFamily="34" charset="0"/>
              </a:rPr>
              <a:t>SOC2</a:t>
            </a:r>
            <a:r>
              <a:rPr lang="en-US" sz="1900" dirty="0">
                <a:latin typeface="Arial" panose="020B0604020202020204" pitchFamily="34" charset="0"/>
              </a:rPr>
              <a:t> – Focus more on IT security </a:t>
            </a:r>
            <a:r>
              <a:rPr lang="en-US" sz="1900" dirty="0">
                <a:highlight>
                  <a:srgbClr val="FFFF00"/>
                </a:highlight>
                <a:latin typeface="Arial" panose="020B0604020202020204" pitchFamily="34" charset="0"/>
              </a:rPr>
              <a:t>controls</a:t>
            </a:r>
            <a:r>
              <a:rPr lang="en-US" sz="1900" dirty="0">
                <a:latin typeface="Arial" panose="020B0604020202020204" pitchFamily="34" charset="0"/>
              </a:rPr>
              <a:t> in general</a:t>
            </a:r>
          </a:p>
          <a:p>
            <a:pPr lvl="1"/>
            <a:r>
              <a:rPr lang="en-US" sz="1900" dirty="0">
                <a:latin typeface="Arial" panose="020B0604020202020204" pitchFamily="34" charset="0"/>
              </a:rPr>
              <a:t>Type 1 = Focuses on Design</a:t>
            </a:r>
          </a:p>
          <a:p>
            <a:pPr lvl="1"/>
            <a:r>
              <a:rPr lang="en-US" sz="1900" dirty="0">
                <a:latin typeface="Arial" panose="020B0604020202020204" pitchFamily="34" charset="0"/>
              </a:rPr>
              <a:t>Type 2 = Focuses on Operations</a:t>
            </a:r>
            <a:br>
              <a:rPr lang="en-US" sz="1900" dirty="0">
                <a:latin typeface="Arial" panose="020B0604020202020204" pitchFamily="34" charset="0"/>
              </a:rPr>
            </a:br>
            <a:endParaRPr lang="en-US" sz="1900" dirty="0">
              <a:latin typeface="Arial" panose="020B0604020202020204" pitchFamily="34" charset="0"/>
            </a:endParaRPr>
          </a:p>
          <a:p>
            <a:r>
              <a:rPr lang="en-US" sz="1900" dirty="0">
                <a:highlight>
                  <a:srgbClr val="FFFF00"/>
                </a:highlight>
                <a:latin typeface="Arial" panose="020B0604020202020204" pitchFamily="34" charset="0"/>
              </a:rPr>
              <a:t>SOC3</a:t>
            </a:r>
            <a:r>
              <a:rPr lang="en-US" sz="1900" dirty="0">
                <a:latin typeface="Arial" panose="020B0604020202020204" pitchFamily="34" charset="0"/>
              </a:rPr>
              <a:t> - Is the same as SOC2 but with sensitive information removed so it can be made available to interested parties. (can be made public)</a:t>
            </a:r>
          </a:p>
          <a:p>
            <a:endParaRPr lang="en-US" sz="1900" dirty="0">
              <a:latin typeface="Times New Roman" panose="02020603050405020304" pitchFamily="18" charset="0"/>
            </a:endParaRP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096852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268224" y="60960"/>
            <a:ext cx="1170432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ASSURANCE CHALLENGES WITH VIRTUALIZATION &amp; CLOUD</a:t>
            </a:r>
          </a:p>
        </p:txBody>
      </p:sp>
      <p:sp>
        <p:nvSpPr>
          <p:cNvPr id="3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720" y="1243584"/>
            <a:ext cx="11338560" cy="829056"/>
          </a:xfrm>
          <a:prstGeom prst="rect">
            <a:avLst/>
          </a:prstGeom>
          <a:solidFill>
            <a:srgbClr val="18DFEF"/>
          </a:solidFill>
          <a:ln w="6350">
            <a:solidFill>
              <a:srgbClr val="18DFE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67968"/>
            <a:ext cx="1109472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cloud is made possible by </a:t>
            </a:r>
            <a:r>
              <a:rPr lang="en-US" sz="2133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virtualization</a:t>
            </a:r>
            <a:r>
              <a:rPr lang="en-US" sz="2133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technologies, that enable dynamic environments needed for a global provider platform.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316480"/>
            <a:ext cx="1085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Depending on the cloud architecture employed, a cloud security professional must perform multiple layers of auditing.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328416"/>
            <a:ext cx="10850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To be effective, the auditor must understand the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virtualization architecture of the cloud provider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" y="4450080"/>
            <a:ext cx="5181600" cy="1158240"/>
          </a:xfrm>
          <a:prstGeom prst="rect">
            <a:avLst/>
          </a:prstGeom>
          <a:solidFill>
            <a:srgbClr val="18DFEF"/>
          </a:solidFill>
          <a:ln w="6350">
            <a:solidFill>
              <a:srgbClr val="18DFE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" y="4486656"/>
            <a:ext cx="51816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33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PROVIDER</a:t>
            </a:r>
            <a:r>
              <a:rPr lang="en-US" sz="2133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</a:t>
            </a:r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CSP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" y="4876800"/>
            <a:ext cx="4937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Audits of controls over the hypervisor will usually be the purview of the CSP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880" y="4450080"/>
            <a:ext cx="5852160" cy="1158240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78880" y="4486656"/>
            <a:ext cx="5852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33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CUSTOMER</a:t>
            </a:r>
            <a:endParaRPr lang="en-US" sz="2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4876800"/>
            <a:ext cx="5608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VMs deployed on top of that hardware are usually owned by the customer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2880" y="5791200"/>
            <a:ext cx="4937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Microsoft, Amazon, Google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5791200"/>
            <a:ext cx="5608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Cloud consumers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268224" y="60960"/>
            <a:ext cx="1170432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RIGHT TO AUDIT IN THE CLOUD</a:t>
            </a:r>
          </a:p>
        </p:txBody>
      </p:sp>
      <p:sp>
        <p:nvSpPr>
          <p:cNvPr id="3" name="quot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8240" y="1609344"/>
            <a:ext cx="9753600" cy="2865120"/>
          </a:xfrm>
          <a:prstGeom prst="rect">
            <a:avLst/>
          </a:prstGeom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4000" y="1243584"/>
            <a:ext cx="97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5867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70720" y="4023360"/>
            <a:ext cx="9753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5867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”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06880" y="2255520"/>
            <a:ext cx="780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of vulnerability scanners and pen testers may be limited by your CSP's terms of service.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06880" y="3316224"/>
            <a:ext cx="780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Customer should understand the type and frequency of testing the CSP allows.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4815840"/>
            <a:ext cx="9265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CSPs typically have penetration testing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2133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and scanning "rules of engagement"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268224" y="60960"/>
            <a:ext cx="1170432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CLOUD CONTRACT MANAGEMENT</a:t>
            </a:r>
          </a:p>
        </p:txBody>
      </p:sp>
      <p:sp>
        <p:nvSpPr>
          <p:cNvPr id="3" name="Text 1"/>
          <p:cNvSpPr/>
          <p:nvPr/>
        </p:nvSpPr>
        <p:spPr>
          <a:xfrm>
            <a:off x="7623360" y="292608"/>
            <a:ext cx="4145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Contract Clauses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280160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8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Right to audit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828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customer can request the </a:t>
            </a:r>
            <a:r>
              <a:rPr lang="en-US" sz="2133" dirty="0">
                <a:solidFill>
                  <a:srgbClr val="000000"/>
                </a:solidFill>
                <a:highlight>
                  <a:srgbClr val="FFFF66"/>
                </a:highlight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right to audit the service provider</a:t>
            </a:r>
            <a:r>
              <a:rPr lang="en-US" sz="2133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to ensure compliance with the security requirements agreed in the contract.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621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Contracts often written to allow the CSP's standard audits (e.g., SOC 2, ISO 27001 certification) to be used in place of a customer-performed audit.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3438144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8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Metrics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397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there are specific indicators that the service provider must provide to the customer, they can be documented in a contract.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4815840"/>
            <a:ext cx="10972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FF00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Tell you how compliance with the agreement will be measured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632704"/>
            <a:ext cx="12192000" cy="1219200"/>
          </a:xfrm>
          <a:prstGeom prst="rect">
            <a:avLst/>
          </a:prstGeom>
          <a:solidFill>
            <a:srgbClr val="18DFEF"/>
          </a:solidFill>
          <a:ln w="6350">
            <a:solidFill>
              <a:srgbClr val="18DFE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5681472"/>
            <a:ext cx="1097280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Major cloud service providers make SOC 2 Type II (or other report) available on demand as submitting to every customer's audit request is not possible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Impact"/>
                <a:ea typeface="Impact"/>
                <a:cs typeface="Impact"/>
              </a:rPr>
              <a:t>SECURITY PROCESS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377439"/>
            <a:ext cx="566928" cy="731520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078992" y="2523744"/>
            <a:ext cx="64008" cy="6400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143000" y="2478024"/>
            <a:ext cx="91440" cy="10972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89304" y="2542032"/>
            <a:ext cx="1463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78992" y="2679191"/>
            <a:ext cx="64008" cy="6400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43000" y="2633472"/>
            <a:ext cx="91440" cy="10972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9304" y="2697479"/>
            <a:ext cx="1463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78992" y="2834639"/>
            <a:ext cx="64008" cy="6400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43000" y="2788920"/>
            <a:ext cx="91440" cy="10972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89304" y="2852927"/>
            <a:ext cx="1463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78992" y="2990088"/>
            <a:ext cx="64008" cy="6400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43000" y="2944368"/>
            <a:ext cx="91440" cy="10972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89304" y="3008376"/>
            <a:ext cx="1463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11680" y="228600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Employment Polices and Practices  </a:t>
            </a:r>
            <a:r>
              <a:rPr kumimoji="0" sz="25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Comic Sans MS"/>
                <a:cs typeface="Comic Sans MS"/>
              </a:rPr>
              <a:t>write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Termination process and background checks</a:t>
            </a:r>
          </a:p>
        </p:txBody>
      </p:sp>
      <p:sp>
        <p:nvSpPr>
          <p:cNvPr id="18" name="Oval 17"/>
          <p:cNvSpPr/>
          <p:nvPr/>
        </p:nvSpPr>
        <p:spPr>
          <a:xfrm>
            <a:off x="1161288" y="3611879"/>
            <a:ext cx="256032" cy="256032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289304" y="3886200"/>
            <a:ext cx="0" cy="13715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4984" y="4023359"/>
            <a:ext cx="54864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4984" y="4023359"/>
            <a:ext cx="0" cy="10058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96112" y="4123944"/>
            <a:ext cx="237744" cy="237744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1289304" y="4023359"/>
            <a:ext cx="0" cy="10058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170432" y="4123944"/>
            <a:ext cx="237744" cy="237744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563624" y="4023359"/>
            <a:ext cx="0" cy="10058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444752" y="4123944"/>
            <a:ext cx="237744" cy="237744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11680" y="35204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Roles and Responsibilities  </a:t>
            </a:r>
            <a:r>
              <a:rPr kumimoji="0" sz="25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Comic Sans MS"/>
                <a:cs typeface="Comic Sans MS"/>
              </a:rPr>
              <a:t>communicate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Management sets the standard and verbalizes the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846320"/>
            <a:ext cx="566928" cy="475488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60120" y="5230368"/>
            <a:ext cx="201168" cy="201168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1051560" y="5449824"/>
            <a:ext cx="411480" cy="7315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11680" y="475488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Security Awareness Training  </a:t>
            </a:r>
            <a:r>
              <a:rPr kumimoji="0" sz="25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Comic Sans MS"/>
                <a:cs typeface="Comic Sans MS"/>
              </a:rPr>
              <a:t>train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Prevents Social Engineering, helps with phishing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Impact"/>
                <a:ea typeface="Impact"/>
                <a:cs typeface="Impact"/>
              </a:rPr>
              <a:t>SECURITY MANAGEMENT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Security managers must perform a variety of activities to retain 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proper oversight</a:t>
            </a: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of the information security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1060704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Log reviews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particularly for administrator activities, ensure that 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systems are not misused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Account management reviews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ensure that only authorized users retain access to information systems.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Backup verification   </a:t>
            </a: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Comic Sans MS"/>
                <a:cs typeface="Comic Sans MS"/>
              </a:rPr>
              <a:t>the most important!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ensures that the organization’s data protection process is 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functioning properly.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Key performance and risk indicators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provide a high-level view of security program effectiveness.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C5DB1-82DF-BFCA-6768-15B7B20D8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Key Risk and Performance Indicators</a:t>
            </a:r>
          </a:p>
        </p:txBody>
      </p:sp>
      <p:pic>
        <p:nvPicPr>
          <p:cNvPr id="5" name="Picture 4" descr="Arrows pointing right while one points left">
            <a:extLst>
              <a:ext uri="{FF2B5EF4-FFF2-40B4-BE49-F238E27FC236}">
                <a16:creationId xmlns:a16="http://schemas.microsoft.com/office/drawing/2014/main" id="{FB546FF8-927E-C1AC-CA61-7D3E8B3AF4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12" r="22544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C4C24-3CE7-E190-4147-F09BE3A7F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000" dirty="0"/>
              <a:t>Key risk and performance indicators help inform goal setting, action planning, performance, and review, among other things.</a:t>
            </a:r>
          </a:p>
          <a:p>
            <a:endParaRPr lang="en-US" sz="2000" dirty="0"/>
          </a:p>
          <a:p>
            <a:r>
              <a:rPr lang="en-US" sz="2000" dirty="0"/>
              <a:t>Key risk indicators (KRI) are </a:t>
            </a:r>
            <a:r>
              <a:rPr lang="en-US" sz="2000" dirty="0">
                <a:highlight>
                  <a:srgbClr val="FFFF00"/>
                </a:highlight>
              </a:rPr>
              <a:t>forward-looking</a:t>
            </a:r>
            <a:r>
              <a:rPr lang="en-US" sz="2000" dirty="0"/>
              <a:t> indicators and aid risk-related decision-making.</a:t>
            </a:r>
          </a:p>
          <a:p>
            <a:endParaRPr lang="en-US" sz="2000" dirty="0"/>
          </a:p>
          <a:p>
            <a:r>
              <a:rPr lang="en-US" sz="2000" dirty="0"/>
              <a:t>Key performance indicators (KPI) are </a:t>
            </a:r>
            <a:r>
              <a:rPr lang="en-US" sz="2000" dirty="0">
                <a:highlight>
                  <a:srgbClr val="FFFF00"/>
                </a:highlight>
              </a:rPr>
              <a:t>backward-looking </a:t>
            </a:r>
            <a:r>
              <a:rPr lang="en-US" sz="2000" dirty="0"/>
              <a:t>indicators and look at historical data for purposes of evaluating if performance targets were achieved.</a:t>
            </a:r>
          </a:p>
        </p:txBody>
      </p:sp>
    </p:spTree>
    <p:extLst>
      <p:ext uri="{BB962C8B-B14F-4D97-AF65-F5344CB8AC3E}">
        <p14:creationId xmlns:p14="http://schemas.microsoft.com/office/powerpoint/2010/main" val="4070429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A72DDC-060B-99E4-A210-7156CC3FA2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319138"/>
              </p:ext>
            </p:extLst>
          </p:nvPr>
        </p:nvGraphicFramePr>
        <p:xfrm>
          <a:off x="972465" y="643467"/>
          <a:ext cx="10247071" cy="5571067"/>
        </p:xfrm>
        <a:graphic>
          <a:graphicData uri="http://schemas.openxmlformats.org/drawingml/2006/table">
            <a:tbl>
              <a:tblPr firstRow="1" bandRow="1"/>
              <a:tblGrid>
                <a:gridCol w="4872435">
                  <a:extLst>
                    <a:ext uri="{9D8B030D-6E8A-4147-A177-3AD203B41FA5}">
                      <a16:colId xmlns:a16="http://schemas.microsoft.com/office/drawing/2014/main" val="3005764470"/>
                    </a:ext>
                  </a:extLst>
                </a:gridCol>
                <a:gridCol w="5374636">
                  <a:extLst>
                    <a:ext uri="{9D8B030D-6E8A-4147-A177-3AD203B41FA5}">
                      <a16:colId xmlns:a16="http://schemas.microsoft.com/office/drawing/2014/main" val="3358289668"/>
                    </a:ext>
                  </a:extLst>
                </a:gridCol>
              </a:tblGrid>
              <a:tr h="1154349">
                <a:tc>
                  <a:txBody>
                    <a:bodyPr/>
                    <a:lstStyle/>
                    <a:p>
                      <a:pPr algn="l"/>
                      <a:r>
                        <a:rPr lang="en-US" sz="3100" b="1">
                          <a:solidFill>
                            <a:srgbClr val="E1E0E7"/>
                          </a:solidFill>
                          <a:effectLst/>
                          <a:latin typeface="var(--tve-font-family,&quot;Proxima Nova&quot;)"/>
                        </a:rPr>
                        <a:t>Key Performance Indicators (KPIs)</a:t>
                      </a:r>
                      <a:endParaRPr lang="en-US" sz="3100">
                        <a:solidFill>
                          <a:srgbClr val="E1E0E7"/>
                        </a:solidFill>
                        <a:effectLst/>
                        <a:latin typeface="var(--tve-font-family,&quot;Proxima Nova&quot;)"/>
                      </a:endParaRPr>
                    </a:p>
                  </a:txBody>
                  <a:tcPr marL="81881" marR="81881" marT="81881" marB="81881" anchor="ctr">
                    <a:lnL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100" b="1">
                          <a:solidFill>
                            <a:srgbClr val="E1E0E7"/>
                          </a:solidFill>
                          <a:effectLst/>
                          <a:latin typeface="var(--tve-font-family,&quot;Proxima Nova&quot;)"/>
                        </a:rPr>
                        <a:t>Key Risk Indicators (KRIs)</a:t>
                      </a:r>
                      <a:endParaRPr lang="en-US" sz="3100">
                        <a:solidFill>
                          <a:srgbClr val="E1E0E7"/>
                        </a:solidFill>
                        <a:effectLst/>
                        <a:latin typeface="var(--tve-font-family,&quot;Proxima Nova&quot;)"/>
                      </a:endParaRPr>
                    </a:p>
                  </a:txBody>
                  <a:tcPr marL="81881" marR="81881" marT="81881" marB="81881" anchor="ctr">
                    <a:lnL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201085"/>
                  </a:ext>
                </a:extLst>
              </a:tr>
              <a:tr h="677514"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sz="3100" b="1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Backward</a:t>
                      </a:r>
                      <a:r>
                        <a:rPr lang="en-US" sz="3100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-looking metrics</a:t>
                      </a:r>
                    </a:p>
                  </a:txBody>
                  <a:tcPr marL="81881" marR="81881" marT="81881" marB="81881" anchor="ctr">
                    <a:lnL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sz="3100" b="1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Forward</a:t>
                      </a:r>
                      <a:r>
                        <a:rPr lang="en-US" sz="3100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-looking metrics</a:t>
                      </a:r>
                    </a:p>
                  </a:txBody>
                  <a:tcPr marL="81881" marR="81881" marT="81881" marB="81881" anchor="ctr">
                    <a:lnL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6170"/>
                  </a:ext>
                </a:extLst>
              </a:tr>
              <a:tr h="1631184"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sz="3100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Metrics that indicate the </a:t>
                      </a:r>
                      <a:r>
                        <a:rPr lang="en-US" sz="3100" b="1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achievement of performance targets</a:t>
                      </a:r>
                      <a:endParaRPr lang="en-US" sz="3100">
                        <a:solidFill>
                          <a:srgbClr val="E1E0E7"/>
                        </a:solidFill>
                        <a:effectLst/>
                        <a:highlight>
                          <a:srgbClr val="1F1A42"/>
                        </a:highlight>
                        <a:latin typeface="var(--tve-font-family,&quot;Proxima Nova&quot;)"/>
                      </a:endParaRPr>
                    </a:p>
                  </a:txBody>
                  <a:tcPr marL="81881" marR="81881" marT="81881" marB="81881" anchor="ctr">
                    <a:lnL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sz="3100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Metrics that indicate the level of </a:t>
                      </a:r>
                      <a:r>
                        <a:rPr lang="en-US" sz="3100" b="1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exposure to operational risk</a:t>
                      </a:r>
                      <a:endParaRPr lang="en-US" sz="3100">
                        <a:solidFill>
                          <a:srgbClr val="E1E0E7"/>
                        </a:solidFill>
                        <a:effectLst/>
                        <a:highlight>
                          <a:srgbClr val="1F1A42"/>
                        </a:highlight>
                        <a:latin typeface="var(--tve-font-family,&quot;Proxima Nova&quot;)"/>
                      </a:endParaRPr>
                    </a:p>
                  </a:txBody>
                  <a:tcPr marL="81881" marR="81881" marT="81881" marB="81881" anchor="ctr">
                    <a:lnL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916482"/>
                  </a:ext>
                </a:extLst>
              </a:tr>
              <a:tr h="2108020"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sz="3100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Provide insights about risk events that have </a:t>
                      </a:r>
                      <a:r>
                        <a:rPr lang="en-US" sz="3100" b="1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already affected the organization</a:t>
                      </a:r>
                      <a:endParaRPr lang="en-US" sz="3100">
                        <a:solidFill>
                          <a:srgbClr val="E1E0E7"/>
                        </a:solidFill>
                        <a:effectLst/>
                        <a:highlight>
                          <a:srgbClr val="1F1A42"/>
                        </a:highlight>
                        <a:latin typeface="var(--tve-font-family,&quot;Proxima Nova&quot;)"/>
                      </a:endParaRPr>
                    </a:p>
                  </a:txBody>
                  <a:tcPr marL="81881" marR="81881" marT="81881" marB="81881" anchor="ctr">
                    <a:lnL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US" sz="3100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Help to better monitor </a:t>
                      </a:r>
                      <a:r>
                        <a:rPr lang="en-US" sz="3100" b="1">
                          <a:solidFill>
                            <a:srgbClr val="E1E0E7"/>
                          </a:solidFill>
                          <a:effectLst/>
                          <a:highlight>
                            <a:srgbClr val="1F1A42"/>
                          </a:highlight>
                          <a:latin typeface="var(--tve-font-family,&quot;Proxima Nova&quot;)"/>
                        </a:rPr>
                        <a:t>potential future shifts in risk conditions or new emerging risks</a:t>
                      </a:r>
                      <a:endParaRPr lang="en-US" sz="3100">
                        <a:solidFill>
                          <a:srgbClr val="E1E0E7"/>
                        </a:solidFill>
                        <a:effectLst/>
                        <a:highlight>
                          <a:srgbClr val="1F1A42"/>
                        </a:highlight>
                        <a:latin typeface="var(--tve-font-family,&quot;Proxima Nova&quot;)"/>
                      </a:endParaRPr>
                    </a:p>
                  </a:txBody>
                  <a:tcPr marL="81881" marR="81881" marT="81881" marB="81881" anchor="ctr">
                    <a:lnL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F0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59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007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604DB732-25B8-6723-4F6A-C486B812A5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622" b="1010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4531F-F976-F72F-F8CF-9A6732D7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0" i="0" u="none" strike="noStrike" baseline="0">
                <a:latin typeface="Arial" panose="020B0604020202020204" pitchFamily="34" charset="0"/>
              </a:rPr>
              <a:t>Synthetic Transactions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5D479-A1FE-3BD4-4752-C85E87A10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R="0" rtl="0"/>
            <a:r>
              <a:rPr lang="en-US" sz="2200" b="0" i="0" u="none" strike="noStrike" baseline="0">
                <a:latin typeface="Times New Roman" panose="02020603050405020304" pitchFamily="18" charset="0"/>
              </a:rPr>
              <a:t>Synthetic transactions, or synthetic monitoring, involve building scripts or tools that simulate activities normally performed in an application. </a:t>
            </a:r>
            <a:br>
              <a:rPr lang="en-US" sz="2200" b="0" i="0" u="none" strike="noStrike" baseline="0">
                <a:latin typeface="Times New Roman" panose="02020603050405020304" pitchFamily="18" charset="0"/>
              </a:rPr>
            </a:br>
            <a:endParaRPr lang="en-US" sz="2200" b="0" i="0" u="none" strike="noStrike" baseline="0">
              <a:latin typeface="Times New Roman" panose="02020603050405020304" pitchFamily="18" charset="0"/>
            </a:endParaRPr>
          </a:p>
          <a:p>
            <a:pPr marR="0" rtl="0"/>
            <a:r>
              <a:rPr lang="en-US" sz="2200" b="0" i="0" u="none" strike="noStrike" baseline="0">
                <a:latin typeface="Times New Roman" panose="02020603050405020304" pitchFamily="18" charset="0"/>
              </a:rPr>
              <a:t>The typical goal of using synthetic transactions/monitoring is to establish expected norms for the performance of these transactions. </a:t>
            </a:r>
            <a:br>
              <a:rPr lang="en-US" sz="2200" b="0" i="0" u="none" strike="noStrike" baseline="0">
                <a:latin typeface="Times New Roman" panose="02020603050405020304" pitchFamily="18" charset="0"/>
              </a:rPr>
            </a:br>
            <a:endParaRPr lang="en-US" sz="2200" b="0" i="0" u="none" strike="noStrike" baseline="0">
              <a:latin typeface="Times New Roman" panose="02020603050405020304" pitchFamily="18" charset="0"/>
            </a:endParaRPr>
          </a:p>
          <a:p>
            <a:pPr marR="0" rtl="0"/>
            <a:r>
              <a:rPr lang="en-US" sz="2200" b="0" i="0" u="none" strike="noStrike" baseline="0">
                <a:latin typeface="Times New Roman" panose="02020603050405020304" pitchFamily="18" charset="0"/>
              </a:rPr>
              <a:t>These synthetic transactions can be automated to run on a periodic basis to ensure the application is still performing as expected. </a:t>
            </a:r>
            <a:br>
              <a:rPr lang="en-US" sz="2200" b="0" i="0" u="none" strike="noStrike" baseline="0">
                <a:latin typeface="Times New Roman" panose="02020603050405020304" pitchFamily="18" charset="0"/>
              </a:rPr>
            </a:br>
            <a:endParaRPr lang="en-US" sz="2200" b="0" i="0" u="none" strike="noStrike" baseline="0">
              <a:latin typeface="Times New Roman" panose="02020603050405020304" pitchFamily="18" charset="0"/>
            </a:endParaRPr>
          </a:p>
          <a:p>
            <a:pPr marR="0" rtl="0"/>
            <a:r>
              <a:rPr lang="en-US" sz="2200" b="0" i="0" u="none" strike="noStrike" baseline="0">
                <a:latin typeface="Times New Roman" panose="02020603050405020304" pitchFamily="18" charset="0"/>
              </a:rPr>
              <a:t>These types of transactions can also be useful for testing application updates prior to deployment to ensure the functionality and performance will not be negatively impacted. </a:t>
            </a:r>
            <a:br>
              <a:rPr lang="en-US" sz="2200" b="0" i="0" u="none" strike="noStrike" baseline="0">
                <a:latin typeface="Times New Roman" panose="02020603050405020304" pitchFamily="18" charset="0"/>
              </a:rPr>
            </a:br>
            <a:endParaRPr lang="en-US" sz="2200" b="0" i="0" u="none" strike="noStrike" baseline="0">
              <a:latin typeface="Times New Roman" panose="02020603050405020304" pitchFamily="18" charset="0"/>
            </a:endParaRPr>
          </a:p>
          <a:p>
            <a:pPr marL="0" marR="0" indent="0" rtl="0">
              <a:buNone/>
            </a:pPr>
            <a:endParaRPr lang="en-US" sz="2200" b="0" i="0" u="none" strike="noStrike" baseline="0">
              <a:latin typeface="Times New Roman" panose="02020603050405020304" pitchFamily="18" charset="0"/>
            </a:endParaRP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501414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Impact"/>
                <a:ea typeface="Impact"/>
                <a:cs typeface="Impact"/>
              </a:rPr>
              <a:t>SOFTWARE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27632"/>
            <a:ext cx="10607040" cy="749808"/>
          </a:xfrm>
          <a:prstGeom prst="rect">
            <a:avLst/>
          </a:prstGeom>
          <a:solidFill>
            <a:srgbClr val="00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16916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25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Perform software testing to validate code moving into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1"/>
            <a:ext cx="96926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Software testing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techniques verify that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code functions as designed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and does not contain security flaws.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Code review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uses a peer review process to formally or informally validate code before deploying it in production.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Interface testing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assesses the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interactions between components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and users with API testing, user interface testing, and physical interface testing.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Impact"/>
                <a:ea typeface="Impact"/>
                <a:cs typeface="Impact"/>
              </a:rPr>
              <a:t>STATIC VS DYNAMIC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 dirty="0">
                <a:ln w="12700">
                  <a:solidFill>
                    <a:srgbClr val="0F8FA0"/>
                  </a:solidFill>
                </a:ln>
                <a:solidFill>
                  <a:srgbClr val="00E7F0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Static vs Dynamic Software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95728"/>
            <a:ext cx="10789920" cy="237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Static software testing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techniques include code reviews, evaluate the security of software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uLnTx/>
                <a:uFillTx/>
                <a:latin typeface="Poppins"/>
                <a:ea typeface="Poppins"/>
                <a:cs typeface="Poppins"/>
              </a:rPr>
              <a:t>without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uLnTx/>
                <a:uFillTx/>
                <a:latin typeface="Poppins"/>
                <a:ea typeface="Poppins"/>
                <a:cs typeface="Poppins"/>
              </a:rPr>
              <a:t>running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it by analyzing either the source code or the compiled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Dynamic software testing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evaluates the security of software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in a runtime environment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and is often the only option for organizations deploying applications written by someone else.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2667000" y="4937760"/>
            <a:ext cx="256032" cy="384048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06040" y="5413248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Comic Sans MS"/>
                <a:cs typeface="Comic Sans MS"/>
              </a:rPr>
              <a:t>"written by someone else" is not a requirement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E9710-F572-43F7-AF41-F3C61154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Software Testing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B0434-A1FA-4ED5-BD4F-24A4558F8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pPr marL="698500" marR="113030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000" dirty="0">
                <a:highlight>
                  <a:srgbClr val="FFFF00"/>
                </a:highlight>
                <a:latin typeface="Rockwell"/>
                <a:cs typeface="Rockwell"/>
              </a:rPr>
              <a:t>Unit</a:t>
            </a:r>
            <a:r>
              <a:rPr lang="en-US" sz="2000" spc="-90" dirty="0">
                <a:highlight>
                  <a:srgbClr val="FFFF00"/>
                </a:highlight>
                <a:latin typeface="Rockwell"/>
                <a:cs typeface="Rockwell"/>
              </a:rPr>
              <a:t>  </a:t>
            </a:r>
            <a:r>
              <a:rPr lang="en-US" sz="2000" spc="-15" dirty="0">
                <a:highlight>
                  <a:srgbClr val="FFFF00"/>
                </a:highlight>
                <a:latin typeface="Rockwell"/>
                <a:cs typeface="Rockwell"/>
              </a:rPr>
              <a:t>Testing</a:t>
            </a:r>
            <a:r>
              <a:rPr lang="en-US" sz="2000" spc="-15" dirty="0">
                <a:latin typeface="Rockwell"/>
                <a:cs typeface="Rockwell"/>
              </a:rPr>
              <a:t>:</a:t>
            </a:r>
            <a:r>
              <a:rPr lang="en-US" sz="2000" spc="-155" dirty="0">
                <a:latin typeface="Rockwell"/>
                <a:cs typeface="Rockwell"/>
              </a:rPr>
              <a:t>  </a:t>
            </a:r>
            <a:r>
              <a:rPr lang="en-US" sz="2000" spc="-25" dirty="0">
                <a:latin typeface="Rockwell"/>
                <a:cs typeface="Rockwell"/>
              </a:rPr>
              <a:t>Low-level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tests </a:t>
            </a:r>
            <a:r>
              <a:rPr lang="en-US" sz="2000" dirty="0">
                <a:latin typeface="Rockwell"/>
                <a:cs typeface="Rockwell"/>
              </a:rPr>
              <a:t>of</a:t>
            </a:r>
            <a:r>
              <a:rPr lang="en-US" sz="2000" spc="5" dirty="0">
                <a:latin typeface="Rockwell"/>
                <a:cs typeface="Rockwell"/>
              </a:rPr>
              <a:t> </a:t>
            </a:r>
            <a:r>
              <a:rPr lang="en-US" sz="2000" spc="-15" dirty="0">
                <a:latin typeface="Rockwell"/>
                <a:cs typeface="Rockwell"/>
              </a:rPr>
              <a:t>software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components,</a:t>
            </a:r>
            <a:r>
              <a:rPr lang="en-US" sz="2000" spc="-17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such</a:t>
            </a:r>
            <a:r>
              <a:rPr lang="en-US" sz="2000" spc="1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as</a:t>
            </a:r>
            <a:r>
              <a:rPr lang="en-US" sz="2000" spc="-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functions,</a:t>
            </a:r>
            <a:r>
              <a:rPr lang="en-US" sz="2000" spc="-170" dirty="0">
                <a:latin typeface="Rockwell"/>
                <a:cs typeface="Rockwell"/>
              </a:rPr>
              <a:t> </a:t>
            </a:r>
            <a:r>
              <a:rPr lang="en-US" sz="2000" spc="-20" dirty="0">
                <a:latin typeface="Rockwell"/>
                <a:cs typeface="Rockwell"/>
              </a:rPr>
              <a:t>procedures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or objects</a:t>
            </a:r>
            <a:br>
              <a:rPr lang="en-US" sz="2000" spc="-5" dirty="0">
                <a:latin typeface="Rockwell"/>
                <a:cs typeface="Rockwell"/>
              </a:rPr>
            </a:br>
            <a:endParaRPr lang="en-US" sz="2000" dirty="0">
              <a:latin typeface="Rockwell"/>
              <a:cs typeface="Rockwell"/>
            </a:endParaRPr>
          </a:p>
          <a:p>
            <a:pPr marL="698500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000" spc="-5" dirty="0">
                <a:highlight>
                  <a:srgbClr val="FFFF00"/>
                </a:highlight>
                <a:latin typeface="Rockwell"/>
                <a:cs typeface="Rockwell"/>
              </a:rPr>
              <a:t>Integration </a:t>
            </a:r>
            <a:r>
              <a:rPr lang="en-US" sz="2000" spc="-15" dirty="0">
                <a:highlight>
                  <a:srgbClr val="FFFF00"/>
                </a:highlight>
                <a:latin typeface="Rockwell"/>
                <a:cs typeface="Rockwell"/>
              </a:rPr>
              <a:t>Testing</a:t>
            </a:r>
            <a:r>
              <a:rPr lang="en-US" sz="2000" spc="-15" dirty="0">
                <a:latin typeface="Rockwell"/>
                <a:cs typeface="Rockwell"/>
              </a:rPr>
              <a:t>:  Testing </a:t>
            </a:r>
            <a:r>
              <a:rPr lang="en-US" sz="2000" spc="-5" dirty="0">
                <a:latin typeface="Rockwell"/>
                <a:cs typeface="Rockwell"/>
              </a:rPr>
              <a:t>multiple </a:t>
            </a:r>
            <a:r>
              <a:rPr lang="en-US" sz="2000" spc="-20" dirty="0">
                <a:latin typeface="Rockwell"/>
                <a:cs typeface="Rockwell"/>
              </a:rPr>
              <a:t>software </a:t>
            </a:r>
            <a:r>
              <a:rPr lang="en-US" sz="2000" dirty="0">
                <a:latin typeface="Rockwell"/>
                <a:cs typeface="Rockwell"/>
              </a:rPr>
              <a:t>components as </a:t>
            </a:r>
            <a:r>
              <a:rPr lang="en-US" sz="2000" spc="-20" dirty="0">
                <a:latin typeface="Rockwell"/>
                <a:cs typeface="Rockwell"/>
              </a:rPr>
              <a:t>they </a:t>
            </a:r>
            <a:r>
              <a:rPr lang="en-US" sz="2000" spc="-30" dirty="0">
                <a:latin typeface="Rockwell"/>
                <a:cs typeface="Rockwell"/>
              </a:rPr>
              <a:t>are </a:t>
            </a:r>
            <a:r>
              <a:rPr lang="en-US" sz="2000" dirty="0">
                <a:latin typeface="Rockwell"/>
                <a:cs typeface="Rockwell"/>
              </a:rPr>
              <a:t>combined into</a:t>
            </a:r>
            <a:r>
              <a:rPr lang="en-US" sz="2000" spc="-31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  </a:t>
            </a:r>
            <a:r>
              <a:rPr lang="en-US" sz="2000" spc="-15" dirty="0">
                <a:latin typeface="Rockwell"/>
                <a:cs typeface="Rockwell"/>
              </a:rPr>
              <a:t>working </a:t>
            </a:r>
            <a:r>
              <a:rPr lang="en-US" sz="2000" spc="-5" dirty="0">
                <a:latin typeface="Rockwell"/>
                <a:cs typeface="Rockwell"/>
              </a:rPr>
              <a:t>system. </a:t>
            </a:r>
          </a:p>
          <a:p>
            <a:pPr marL="698500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endParaRPr lang="en-US" sz="2000" spc="-5" dirty="0">
              <a:highlight>
                <a:srgbClr val="FFFF00"/>
              </a:highlight>
              <a:latin typeface="Rockwell"/>
              <a:cs typeface="Rockwell"/>
            </a:endParaRPr>
          </a:p>
          <a:p>
            <a:pPr marL="698500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000" spc="-10" dirty="0">
                <a:highlight>
                  <a:srgbClr val="FFFF00"/>
                </a:highlight>
                <a:latin typeface="Rockwell"/>
                <a:cs typeface="Rockwell"/>
              </a:rPr>
              <a:t>Regression</a:t>
            </a:r>
            <a:r>
              <a:rPr lang="en-US" sz="2000" spc="-85" dirty="0">
                <a:highlight>
                  <a:srgbClr val="FFFF00"/>
                </a:highlight>
                <a:latin typeface="Rockwell"/>
                <a:cs typeface="Rockwell"/>
              </a:rPr>
              <a:t>  </a:t>
            </a:r>
            <a:r>
              <a:rPr lang="en-US" sz="2000" spc="-15" dirty="0">
                <a:highlight>
                  <a:srgbClr val="FFFF00"/>
                </a:highlight>
                <a:latin typeface="Rockwell"/>
                <a:cs typeface="Rockwell"/>
              </a:rPr>
              <a:t>Testing</a:t>
            </a:r>
            <a:r>
              <a:rPr lang="en-US" sz="2000" spc="-15" dirty="0">
                <a:latin typeface="Rockwell"/>
                <a:cs typeface="Rockwell"/>
              </a:rPr>
              <a:t>:</a:t>
            </a:r>
            <a:r>
              <a:rPr lang="en-US" sz="2000" spc="-245" dirty="0">
                <a:latin typeface="Rockwell"/>
                <a:cs typeface="Rockwell"/>
              </a:rPr>
              <a:t>    </a:t>
            </a:r>
            <a:r>
              <a:rPr lang="en-US" sz="2000" spc="-15" dirty="0">
                <a:latin typeface="Rockwell"/>
                <a:cs typeface="Rockwell"/>
              </a:rPr>
              <a:t>Testing</a:t>
            </a:r>
            <a:r>
              <a:rPr lang="en-US" sz="2000" spc="-5" dirty="0">
                <a:latin typeface="Rockwell"/>
                <a:cs typeface="Rockwell"/>
              </a:rPr>
              <a:t> </a:t>
            </a:r>
            <a:r>
              <a:rPr lang="en-US" sz="2000" spc="-20" dirty="0">
                <a:latin typeface="Rockwell"/>
                <a:cs typeface="Rockwell"/>
              </a:rPr>
              <a:t>software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after</a:t>
            </a:r>
            <a:r>
              <a:rPr lang="en-US" sz="2000" spc="5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updates,</a:t>
            </a:r>
            <a:r>
              <a:rPr lang="en-US" sz="2000" spc="-16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modifications,</a:t>
            </a:r>
            <a:r>
              <a:rPr lang="en-US" sz="2000" spc="-18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or</a:t>
            </a:r>
            <a:r>
              <a:rPr lang="en-US" sz="2000" spc="1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patches</a:t>
            </a:r>
          </a:p>
          <a:p>
            <a:pPr marL="698500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endParaRPr lang="en-US" sz="2000" dirty="0">
              <a:highlight>
                <a:srgbClr val="FFFF00"/>
              </a:highlight>
              <a:latin typeface="Rockwell"/>
              <a:cs typeface="Rockwell"/>
            </a:endParaRPr>
          </a:p>
          <a:p>
            <a:pPr marL="698500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000" dirty="0">
                <a:highlight>
                  <a:srgbClr val="FFFF00"/>
                </a:highlight>
                <a:latin typeface="Rockwell"/>
                <a:cs typeface="Rockwell"/>
              </a:rPr>
              <a:t>Installation </a:t>
            </a:r>
            <a:r>
              <a:rPr lang="en-US" sz="2000" spc="-15" dirty="0">
                <a:highlight>
                  <a:srgbClr val="FFFF00"/>
                </a:highlight>
                <a:latin typeface="Rockwell"/>
                <a:cs typeface="Rockwell"/>
              </a:rPr>
              <a:t>Testing</a:t>
            </a:r>
            <a:r>
              <a:rPr lang="en-US" sz="2000" spc="-15" dirty="0">
                <a:latin typeface="Rockwell"/>
                <a:cs typeface="Rockwell"/>
              </a:rPr>
              <a:t>:</a:t>
            </a:r>
            <a:r>
              <a:rPr lang="en-US" sz="2000" spc="-400" dirty="0">
                <a:latin typeface="Rockwell"/>
                <a:cs typeface="Rockwell"/>
              </a:rPr>
              <a:t>          </a:t>
            </a:r>
            <a:r>
              <a:rPr lang="en-US" sz="2000" spc="-15" dirty="0">
                <a:latin typeface="Rockwell"/>
                <a:cs typeface="Rockwell"/>
              </a:rPr>
              <a:t>Testing </a:t>
            </a:r>
            <a:r>
              <a:rPr lang="en-US" sz="2000" spc="-20" dirty="0">
                <a:latin typeface="Rockwell"/>
                <a:cs typeface="Rockwell"/>
              </a:rPr>
              <a:t>software </a:t>
            </a:r>
            <a:r>
              <a:rPr lang="en-US" sz="2000" dirty="0">
                <a:latin typeface="Rockwell"/>
                <a:cs typeface="Rockwell"/>
              </a:rPr>
              <a:t>as it is installed and </a:t>
            </a:r>
            <a:r>
              <a:rPr lang="en-US" sz="2000" spc="5" dirty="0">
                <a:latin typeface="Rockwell"/>
                <a:cs typeface="Rockwell"/>
              </a:rPr>
              <a:t>first </a:t>
            </a:r>
            <a:r>
              <a:rPr lang="en-US" sz="2000" spc="-5" dirty="0">
                <a:latin typeface="Rockwell"/>
                <a:cs typeface="Rockwell"/>
              </a:rPr>
              <a:t>operated</a:t>
            </a:r>
            <a:br>
              <a:rPr lang="en-US" sz="2000" dirty="0">
                <a:latin typeface="Rockwell"/>
                <a:cs typeface="Rockwell"/>
              </a:rPr>
            </a:br>
            <a:br>
              <a:rPr lang="en-US" sz="2000" dirty="0">
                <a:latin typeface="Rockwell"/>
                <a:cs typeface="Rockwell"/>
              </a:rPr>
            </a:br>
            <a:endParaRPr lang="en-US" sz="2000" dirty="0">
              <a:latin typeface="Rockwell"/>
              <a:cs typeface="Rockwell"/>
            </a:endParaRPr>
          </a:p>
          <a:p>
            <a:pPr marL="698500" marR="266065" indent="-228600">
              <a:spcBef>
                <a:spcPts val="5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lang="en-US" sz="2000" dirty="0">
                <a:highlight>
                  <a:srgbClr val="FFFF00"/>
                </a:highlight>
                <a:latin typeface="Rockwell"/>
                <a:cs typeface="Rockwell"/>
              </a:rPr>
              <a:t>Acceptance </a:t>
            </a:r>
            <a:r>
              <a:rPr lang="en-US" sz="2000" spc="-15" dirty="0">
                <a:highlight>
                  <a:srgbClr val="FFFF00"/>
                </a:highlight>
                <a:latin typeface="Rockwell"/>
                <a:cs typeface="Rockwell"/>
              </a:rPr>
              <a:t>Testing</a:t>
            </a:r>
            <a:r>
              <a:rPr lang="en-US" sz="2000" spc="-15" dirty="0">
                <a:latin typeface="Rockwell"/>
                <a:cs typeface="Rockwell"/>
              </a:rPr>
              <a:t>:  T</a:t>
            </a:r>
            <a:r>
              <a:rPr lang="en-US" sz="2000" dirty="0">
                <a:latin typeface="Rockwell"/>
                <a:cs typeface="Rockwell"/>
              </a:rPr>
              <a:t>esting to </a:t>
            </a:r>
            <a:r>
              <a:rPr lang="en-US" sz="2000" spc="-15" dirty="0">
                <a:latin typeface="Rockwell"/>
                <a:cs typeface="Rockwell"/>
              </a:rPr>
              <a:t>ensure </a:t>
            </a:r>
            <a:r>
              <a:rPr lang="en-US" sz="2000" dirty="0">
                <a:latin typeface="Rockwell"/>
                <a:cs typeface="Rockwell"/>
              </a:rPr>
              <a:t>the </a:t>
            </a:r>
            <a:r>
              <a:rPr lang="en-US" sz="2000" spc="-15" dirty="0">
                <a:latin typeface="Rockwell"/>
                <a:cs typeface="Rockwell"/>
              </a:rPr>
              <a:t>software </a:t>
            </a:r>
            <a:r>
              <a:rPr lang="en-US" sz="2000" dirty="0">
                <a:latin typeface="Rockwell"/>
                <a:cs typeface="Rockwell"/>
              </a:rPr>
              <a:t>meets the </a:t>
            </a:r>
            <a:r>
              <a:rPr lang="en-US" sz="2000" spc="-25" dirty="0">
                <a:latin typeface="Rockwell"/>
                <a:cs typeface="Rockwell"/>
              </a:rPr>
              <a:t>customer’s</a:t>
            </a:r>
            <a:r>
              <a:rPr lang="en-US" sz="2000" spc="-29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operational  requirements. When this </a:t>
            </a:r>
            <a:r>
              <a:rPr lang="en-US" sz="2000" dirty="0">
                <a:latin typeface="Rockwell"/>
                <a:cs typeface="Rockwell"/>
              </a:rPr>
              <a:t>testing is done </a:t>
            </a:r>
            <a:r>
              <a:rPr lang="en-US" sz="2000" spc="-20" dirty="0">
                <a:latin typeface="Rockwell"/>
                <a:cs typeface="Rockwell"/>
              </a:rPr>
              <a:t>directly </a:t>
            </a:r>
            <a:r>
              <a:rPr lang="en-US" sz="2000" spc="-40" dirty="0">
                <a:latin typeface="Rockwell"/>
                <a:cs typeface="Rockwell"/>
              </a:rPr>
              <a:t>by </a:t>
            </a:r>
            <a:r>
              <a:rPr lang="en-US" sz="2000" dirty="0">
                <a:latin typeface="Rockwell"/>
                <a:cs typeface="Rockwell"/>
              </a:rPr>
              <a:t>the </a:t>
            </a:r>
            <a:r>
              <a:rPr lang="en-US" sz="2000" spc="-15" dirty="0">
                <a:latin typeface="Rockwell"/>
                <a:cs typeface="Rockwell"/>
              </a:rPr>
              <a:t>customer, </a:t>
            </a:r>
            <a:r>
              <a:rPr lang="en-US" sz="2000" dirty="0">
                <a:latin typeface="Rockwell"/>
                <a:cs typeface="Rockwell"/>
              </a:rPr>
              <a:t>it is called </a:t>
            </a:r>
            <a:r>
              <a:rPr lang="en-US" sz="2000" spc="-5" dirty="0">
                <a:latin typeface="Rockwell"/>
                <a:cs typeface="Rockwell"/>
              </a:rPr>
              <a:t>User </a:t>
            </a:r>
            <a:r>
              <a:rPr lang="en-US" sz="2000" dirty="0">
                <a:latin typeface="Rockwell"/>
                <a:cs typeface="Rockwell"/>
              </a:rPr>
              <a:t>Acceptance</a:t>
            </a:r>
            <a:r>
              <a:rPr lang="en-US" sz="2000" spc="-200" dirty="0">
                <a:latin typeface="Rockwell"/>
                <a:cs typeface="Rockwell"/>
              </a:rPr>
              <a:t> </a:t>
            </a:r>
            <a:r>
              <a:rPr lang="en-US" sz="2000" spc="-25" dirty="0">
                <a:latin typeface="Rockwell"/>
                <a:cs typeface="Rockwell"/>
              </a:rPr>
              <a:t>Testing.</a:t>
            </a:r>
            <a:endParaRPr lang="en-US" sz="2000" dirty="0">
              <a:latin typeface="Rockwell"/>
              <a:cs typeface="Rockwell"/>
            </a:endParaRP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009B0-9E3B-4D48-94C7-0B4D975A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933EBF01-D49B-4B90-BA7A-0A7FB1CE9D0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281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65B12-FE12-40C5-BACA-B8524DCD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Software Testing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CCA4E-FD1D-4123-9A0C-863688B46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2240915"/>
            <a:ext cx="10515600" cy="4251960"/>
          </a:xfrm>
        </p:spPr>
        <p:txBody>
          <a:bodyPr>
            <a:normAutofit/>
          </a:bodyPr>
          <a:lstStyle/>
          <a:p>
            <a:pPr marL="698500" marR="5080" indent="-228600">
              <a:spcBef>
                <a:spcPts val="490"/>
              </a:spcBef>
              <a:buFont typeface="Arial"/>
              <a:buChar char="•"/>
              <a:tabLst>
                <a:tab pos="698500" algn="l"/>
              </a:tabLst>
            </a:pPr>
            <a:r>
              <a:rPr lang="en-US" sz="2200" dirty="0">
                <a:highlight>
                  <a:srgbClr val="FFFF00"/>
                </a:highlight>
                <a:latin typeface="Rockwell"/>
                <a:cs typeface="Rockwell"/>
              </a:rPr>
              <a:t>Misuse Case </a:t>
            </a:r>
            <a:r>
              <a:rPr lang="en-US" sz="2200" spc="-20" dirty="0">
                <a:highlight>
                  <a:srgbClr val="FFFF00"/>
                </a:highlight>
                <a:latin typeface="Rockwell"/>
                <a:cs typeface="Rockwell"/>
              </a:rPr>
              <a:t>Testing </a:t>
            </a:r>
            <a:r>
              <a:rPr lang="en-US" sz="2200" dirty="0">
                <a:latin typeface="Rockwell"/>
                <a:cs typeface="Rockwell"/>
              </a:rPr>
              <a:t>- </a:t>
            </a:r>
            <a:r>
              <a:rPr lang="en-US" sz="2200" spc="-15" dirty="0">
                <a:latin typeface="Rockwell"/>
                <a:cs typeface="Rockwell"/>
              </a:rPr>
              <a:t>derived </a:t>
            </a:r>
            <a:r>
              <a:rPr lang="en-US" sz="2200" spc="-30" dirty="0">
                <a:latin typeface="Rockwell"/>
                <a:cs typeface="Rockwell"/>
              </a:rPr>
              <a:t>from </a:t>
            </a:r>
            <a:r>
              <a:rPr lang="en-US" sz="2200" dirty="0">
                <a:latin typeface="Rockwell"/>
                <a:cs typeface="Rockwell"/>
              </a:rPr>
              <a:t>and is the </a:t>
            </a:r>
            <a:r>
              <a:rPr lang="en-US" sz="2200" spc="-25" dirty="0">
                <a:latin typeface="Rockwell"/>
                <a:cs typeface="Rockwell"/>
              </a:rPr>
              <a:t>inverse </a:t>
            </a:r>
            <a:r>
              <a:rPr lang="en-US" sz="2200" spc="-5" dirty="0">
                <a:latin typeface="Rockwell"/>
                <a:cs typeface="Rockwell"/>
              </a:rPr>
              <a:t>of </a:t>
            </a:r>
            <a:r>
              <a:rPr lang="en-US" sz="2200" dirty="0">
                <a:latin typeface="Rockwell"/>
                <a:cs typeface="Rockwell"/>
              </a:rPr>
              <a:t>use case testing; describes the </a:t>
            </a:r>
            <a:r>
              <a:rPr lang="en-US" sz="2200" spc="-20" dirty="0">
                <a:latin typeface="Rockwell"/>
                <a:cs typeface="Rockwell"/>
              </a:rPr>
              <a:t>process </a:t>
            </a:r>
            <a:r>
              <a:rPr lang="en-US" sz="2200" spc="-5" dirty="0">
                <a:latin typeface="Rockwell"/>
                <a:cs typeface="Rockwell"/>
              </a:rPr>
              <a:t>of </a:t>
            </a:r>
            <a:r>
              <a:rPr lang="en-US" sz="2200" spc="-20" dirty="0">
                <a:latin typeface="Rockwell"/>
                <a:cs typeface="Rockwell"/>
              </a:rPr>
              <a:t>executing </a:t>
            </a:r>
            <a:r>
              <a:rPr lang="en-US" sz="2200" dirty="0">
                <a:latin typeface="Rockwell"/>
                <a:cs typeface="Rockwell"/>
              </a:rPr>
              <a:t>a </a:t>
            </a:r>
            <a:r>
              <a:rPr lang="en-US" sz="2200" spc="-5" dirty="0">
                <a:latin typeface="Rockwell"/>
                <a:cs typeface="Rockwell"/>
              </a:rPr>
              <a:t>malicious </a:t>
            </a:r>
            <a:r>
              <a:rPr lang="en-US" sz="2200" dirty="0">
                <a:latin typeface="Rockwell"/>
                <a:cs typeface="Rockwell"/>
              </a:rPr>
              <a:t>act </a:t>
            </a:r>
            <a:r>
              <a:rPr lang="en-US" sz="2200" spc="-10" dirty="0">
                <a:latin typeface="Rockwell"/>
                <a:cs typeface="Rockwell"/>
              </a:rPr>
              <a:t>against </a:t>
            </a:r>
            <a:r>
              <a:rPr lang="en-US" sz="2200" dirty="0">
                <a:latin typeface="Rockwell"/>
                <a:cs typeface="Rockwell"/>
              </a:rPr>
              <a:t>a system, </a:t>
            </a:r>
            <a:r>
              <a:rPr lang="en-US" sz="2200" spc="-15" dirty="0">
                <a:latin typeface="Rockwell"/>
                <a:cs typeface="Rockwell"/>
              </a:rPr>
              <a:t>while </a:t>
            </a:r>
            <a:r>
              <a:rPr lang="en-US" sz="2200" dirty="0">
                <a:latin typeface="Rockwell"/>
                <a:cs typeface="Rockwell"/>
              </a:rPr>
              <a:t>use case can be used to </a:t>
            </a:r>
            <a:r>
              <a:rPr lang="en-US" sz="2200" spc="5" dirty="0">
                <a:latin typeface="Rockwell"/>
                <a:cs typeface="Rockwell"/>
              </a:rPr>
              <a:t>describe </a:t>
            </a:r>
            <a:r>
              <a:rPr lang="en-US" sz="2200" spc="-25" dirty="0">
                <a:latin typeface="Rockwell"/>
                <a:cs typeface="Rockwell"/>
              </a:rPr>
              <a:t>any </a:t>
            </a:r>
            <a:r>
              <a:rPr lang="en-US" sz="2200" spc="-5" dirty="0">
                <a:latin typeface="Rockwell"/>
                <a:cs typeface="Rockwell"/>
              </a:rPr>
              <a:t>action </a:t>
            </a:r>
            <a:r>
              <a:rPr lang="en-US" sz="2200" spc="-20" dirty="0">
                <a:latin typeface="Rockwell"/>
                <a:cs typeface="Rockwell"/>
              </a:rPr>
              <a:t>taken </a:t>
            </a:r>
            <a:r>
              <a:rPr lang="en-US" sz="2200" spc="-50" dirty="0">
                <a:latin typeface="Rockwell"/>
                <a:cs typeface="Rockwell"/>
              </a:rPr>
              <a:t>by</a:t>
            </a:r>
            <a:r>
              <a:rPr lang="en-US" sz="2200" spc="-240" dirty="0">
                <a:latin typeface="Rockwell"/>
                <a:cs typeface="Rockwell"/>
              </a:rPr>
              <a:t> </a:t>
            </a:r>
            <a:r>
              <a:rPr lang="en-US" sz="2200" dirty="0">
                <a:latin typeface="Rockwell"/>
                <a:cs typeface="Rockwell"/>
              </a:rPr>
              <a:t>the  system</a:t>
            </a:r>
            <a:br>
              <a:rPr lang="en-US" sz="2200" spc="-5" dirty="0">
                <a:latin typeface="Rockwell"/>
                <a:cs typeface="Rockwell"/>
              </a:rPr>
            </a:br>
            <a:endParaRPr lang="en-US" sz="2200" dirty="0">
              <a:latin typeface="Rockwell"/>
              <a:cs typeface="Rockwell"/>
            </a:endParaRPr>
          </a:p>
          <a:p>
            <a:pPr marL="698500" marR="26034" indent="-228600"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en-US" sz="2200" dirty="0">
                <a:highlight>
                  <a:srgbClr val="FFFF00"/>
                </a:highlight>
                <a:latin typeface="Rockwell"/>
                <a:cs typeface="Rockwell"/>
              </a:rPr>
              <a:t>Combinatorial </a:t>
            </a:r>
            <a:r>
              <a:rPr lang="en-US" sz="2200" spc="-25" dirty="0">
                <a:highlight>
                  <a:srgbClr val="FFFF00"/>
                </a:highlight>
                <a:latin typeface="Rockwell"/>
                <a:cs typeface="Rockwell"/>
              </a:rPr>
              <a:t>Software T</a:t>
            </a:r>
            <a:r>
              <a:rPr lang="en-US" sz="2200" dirty="0">
                <a:highlight>
                  <a:srgbClr val="FFFF00"/>
                </a:highlight>
                <a:latin typeface="Rockwell"/>
                <a:cs typeface="Rockwell"/>
              </a:rPr>
              <a:t>esting </a:t>
            </a:r>
            <a:r>
              <a:rPr lang="en-US" sz="2200" dirty="0">
                <a:latin typeface="Rockwell"/>
                <a:cs typeface="Rockwell"/>
              </a:rPr>
              <a:t>- a </a:t>
            </a:r>
            <a:r>
              <a:rPr lang="en-US" sz="2200" spc="-20" dirty="0">
                <a:latin typeface="Rockwell"/>
                <a:cs typeface="Rockwell"/>
              </a:rPr>
              <a:t>black-box </a:t>
            </a:r>
            <a:r>
              <a:rPr lang="en-US" sz="2200" spc="-5" dirty="0">
                <a:latin typeface="Rockwell"/>
                <a:cs typeface="Rockwell"/>
              </a:rPr>
              <a:t>testing </a:t>
            </a:r>
            <a:r>
              <a:rPr lang="en-US" sz="2200" dirty="0">
                <a:latin typeface="Rockwell"/>
                <a:cs typeface="Rockwell"/>
              </a:rPr>
              <a:t>method that seeks  to </a:t>
            </a:r>
            <a:r>
              <a:rPr lang="en-US" sz="2200" spc="-5" dirty="0">
                <a:latin typeface="Rockwell"/>
                <a:cs typeface="Rockwell"/>
              </a:rPr>
              <a:t>identify </a:t>
            </a:r>
            <a:r>
              <a:rPr lang="en-US" sz="2200" dirty="0">
                <a:latin typeface="Rockwell"/>
                <a:cs typeface="Rockwell"/>
              </a:rPr>
              <a:t>and test </a:t>
            </a:r>
            <a:r>
              <a:rPr lang="en-US" sz="2200" spc="-5" dirty="0">
                <a:latin typeface="Rockwell"/>
                <a:cs typeface="Rockwell"/>
              </a:rPr>
              <a:t>all </a:t>
            </a:r>
            <a:r>
              <a:rPr lang="en-US" sz="2200" dirty="0">
                <a:latin typeface="Rockwell"/>
                <a:cs typeface="Rockwell"/>
              </a:rPr>
              <a:t>unique </a:t>
            </a:r>
            <a:r>
              <a:rPr lang="en-US" sz="2200" spc="-5" dirty="0">
                <a:latin typeface="Rockwell"/>
                <a:cs typeface="Rockwell"/>
              </a:rPr>
              <a:t>combinations </a:t>
            </a:r>
            <a:r>
              <a:rPr lang="en-US" sz="2200" dirty="0">
                <a:latin typeface="Rockwell"/>
                <a:cs typeface="Rockwell"/>
              </a:rPr>
              <a:t>of </a:t>
            </a:r>
            <a:r>
              <a:rPr lang="en-US" sz="2200" spc="-25" dirty="0">
                <a:latin typeface="Rockwell"/>
                <a:cs typeface="Rockwell"/>
              </a:rPr>
              <a:t>software</a:t>
            </a:r>
            <a:r>
              <a:rPr lang="en-US" sz="2200" dirty="0">
                <a:latin typeface="Rockwell"/>
                <a:cs typeface="Rockwell"/>
              </a:rPr>
              <a:t> inputs.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1C7EC-745E-4E92-BB90-E312374F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933EBF01-D49B-4B90-BA7A-0A7FB1CE9D0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412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Impact"/>
                <a:ea typeface="Impact"/>
                <a:cs typeface="Impact"/>
              </a:rPr>
              <a:t>FUZZING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46120"/>
            <a:ext cx="2779775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4800" b="1" i="0" u="none" strike="noStrike" kern="1200" cap="none" spc="0" normalizeH="0" baseline="0" noProof="0">
                <a:ln w="12700">
                  <a:solidFill>
                    <a:srgbClr val="0F8FA0"/>
                  </a:solidFill>
                </a:ln>
                <a:solidFill>
                  <a:srgbClr val="00E7F0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Fuzzing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Comic Sans MS"/>
                <a:cs typeface="Comic Sans MS"/>
              </a:rPr>
              <a:t>testing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33087" y="2487168"/>
            <a:ext cx="50292" cy="246888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20" y="2487168"/>
            <a:ext cx="70408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Uses modified inputs</a:t>
            </a: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to test software performance under unexpected circumstances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Modifies known inputs</a:t>
            </a: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to generate synthetic inputs that may trigger unexpected behavior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Generational fuzzing </a:t>
            </a: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66"/>
                </a:highlight>
                <a:uLnTx/>
                <a:uFillTx/>
                <a:latin typeface="Poppins"/>
                <a:ea typeface="Poppins"/>
                <a:cs typeface="Poppins"/>
              </a:rPr>
              <a:t>develops inputs</a:t>
            </a: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oppins"/>
                <a:ea typeface="Poppins"/>
                <a:cs typeface="Poppins"/>
              </a:rPr>
              <a:t> based on models of expected inputs to perform same 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7539226" y="2898648"/>
            <a:ext cx="4023360" cy="402336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1706C-A006-8C93-DD11-3D916B57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raceability Matrix">
            <a:extLst>
              <a:ext uri="{FF2B5EF4-FFF2-40B4-BE49-F238E27FC236}">
                <a16:creationId xmlns:a16="http://schemas.microsoft.com/office/drawing/2014/main" id="{507B0F61-DB74-4133-2FA2-76A77CACA2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defTabSz="914400">
              <a:defRPr sz="6200">
                <a:effectLst>
                  <a:outerShdw blurRad="12700" dist="25400" dir="2700000" rotWithShape="0">
                    <a:srgbClr val="000000"/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effectLst/>
              </a:defRPr>
            </a:pPr>
            <a:r>
              <a:rPr lang="en-US" sz="4400">
                <a:effectLst/>
                <a:latin typeface="+mj-lt"/>
                <a:ea typeface="+mj-ea"/>
                <a:cs typeface="+mj-cs"/>
              </a:rPr>
              <a:t>Traceability Matrix</a:t>
            </a:r>
          </a:p>
        </p:txBody>
      </p:sp>
      <p:sp>
        <p:nvSpPr>
          <p:cNvPr id="225" name="Maps customer requirements to software testing plan">
            <a:extLst>
              <a:ext uri="{FF2B5EF4-FFF2-40B4-BE49-F238E27FC236}">
                <a16:creationId xmlns:a16="http://schemas.microsoft.com/office/drawing/2014/main" id="{6B15A32F-7F56-8467-D205-CD0FDC10296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965431" y="2438400"/>
            <a:ext cx="658648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29389" indent="-529389" defTabSz="914400">
              <a:spcBef>
                <a:spcPts val="700"/>
              </a:spcBef>
              <a:defRPr sz="4400" b="1">
                <a:effectLst>
                  <a:outerShdw blurRad="12700" dist="25400" dir="2700000" rotWithShape="0">
                    <a:srgbClr val="000000"/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-228600">
              <a:defRPr>
                <a:effectLst/>
              </a:defRPr>
            </a:pPr>
            <a:r>
              <a:rPr lang="en-US" sz="2000" b="0">
                <a:effectLst/>
                <a:latin typeface="+mn-lt"/>
                <a:ea typeface="+mn-ea"/>
                <a:cs typeface="+mn-cs"/>
              </a:rPr>
              <a:t>Maps customer requirements to software testing plan</a:t>
            </a:r>
          </a:p>
        </p:txBody>
      </p:sp>
      <p:pic>
        <p:nvPicPr>
          <p:cNvPr id="227" name="Picture 226" descr="Person pointing on a map">
            <a:extLst>
              <a:ext uri="{FF2B5EF4-FFF2-40B4-BE49-F238E27FC236}">
                <a16:creationId xmlns:a16="http://schemas.microsoft.com/office/drawing/2014/main" id="{850D8153-7C5B-C1AC-CAC6-32616E72C5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35" r="33246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FA51A11-EFA7-C5A3-B524-F0F6365A2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79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55B325-F122-BDEC-A2AA-416C0435A6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0167042" y="6356350"/>
            <a:ext cx="118675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503166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88333BA-AE6E-427A-9B16-A39C8073F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FB6F7-7527-A539-8071-4A06D8FC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latin typeface="Arial" panose="020B0604020202020204" pitchFamily="34" charset="0"/>
              </a:rPr>
              <a:t>Code Injection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AD13-0940-AF41-1CAE-D8A7AEEEF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10515600" cy="3871762"/>
          </a:xfrm>
        </p:spPr>
        <p:txBody>
          <a:bodyPr>
            <a:normAutofit/>
          </a:bodyPr>
          <a:lstStyle/>
          <a:p>
            <a:pPr marR="0" rtl="0"/>
            <a:r>
              <a:rPr lang="en-US" sz="2400" dirty="0">
                <a:latin typeface="Arial" panose="020B0604020202020204" pitchFamily="34" charset="0"/>
              </a:rPr>
              <a:t>Code injection is a category of attacks in which a malicious actor inserts code into a form field. </a:t>
            </a:r>
            <a:br>
              <a:rPr lang="en-US" sz="2400" dirty="0">
                <a:latin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</a:rPr>
              <a:t>For example, an attacker might paste some malicious JavaScript code or Structured Query Language (SQL) queries into a browser-based form field in order to cause the application's back end to execute the code. </a:t>
            </a:r>
            <a:br>
              <a:rPr lang="en-US" dirty="0">
                <a:latin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</a:rPr>
              <a:t>If the application does not properly validate and sanitize form input, the code might successfully execute and compromise data.</a:t>
            </a:r>
            <a:br>
              <a:rPr lang="en-US" dirty="0">
                <a:latin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</a:endParaRPr>
          </a:p>
          <a:p>
            <a:pPr marR="0" rtl="0"/>
            <a:endParaRPr lang="en-US" sz="2400" b="0" i="0" u="none" strike="noStrike" baseline="0" dirty="0">
              <a:latin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9218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QL Injection">
            <a:extLst>
              <a:ext uri="{FF2B5EF4-FFF2-40B4-BE49-F238E27FC236}">
                <a16:creationId xmlns:a16="http://schemas.microsoft.com/office/drawing/2014/main" id="{6120BEC9-E745-38EF-9EB2-7EDE4E605D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40" y="643466"/>
            <a:ext cx="9904120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9D14CE-63C1-FA9D-8064-BCA988BD2351}"/>
              </a:ext>
            </a:extLst>
          </p:cNvPr>
          <p:cNvSpPr txBox="1"/>
          <p:nvPr/>
        </p:nvSpPr>
        <p:spPr>
          <a:xfrm>
            <a:off x="8477250" y="5086350"/>
            <a:ext cx="2647950" cy="129540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616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7199-D168-E6B3-1216-6CAC0CFF9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325563"/>
          </a:xfrm>
        </p:spPr>
        <p:txBody>
          <a:bodyPr/>
          <a:lstStyle/>
          <a:p>
            <a:r>
              <a:rPr lang="en-US" dirty="0"/>
              <a:t>Cross Site Scripting</a:t>
            </a:r>
          </a:p>
        </p:txBody>
      </p:sp>
      <p:pic>
        <p:nvPicPr>
          <p:cNvPr id="4106" name="Picture 10" descr="sorted-XSS">
            <a:extLst>
              <a:ext uri="{FF2B5EF4-FFF2-40B4-BE49-F238E27FC236}">
                <a16:creationId xmlns:a16="http://schemas.microsoft.com/office/drawing/2014/main" id="{36E0E09F-5209-0D0F-61C6-E3ACA5B78C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204" y="1752600"/>
            <a:ext cx="7833591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094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oss-Site Forgery — Web-based Application Security, Part 2 | Spanning">
            <a:extLst>
              <a:ext uri="{FF2B5EF4-FFF2-40B4-BE49-F238E27FC236}">
                <a16:creationId xmlns:a16="http://schemas.microsoft.com/office/drawing/2014/main" id="{DB406134-2786-076D-43F4-5D81947C3D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74620" y="343527"/>
            <a:ext cx="6444853" cy="6170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015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488333BA-AE6E-427A-9B16-A39C8073F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FB6F7-7527-A539-8071-4A06D8FC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CSRF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AD13-0940-AF41-1CAE-D8A7AEEEF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10515600" cy="3871762"/>
          </a:xfrm>
        </p:spPr>
        <p:txBody>
          <a:bodyPr>
            <a:normAutofit/>
          </a:bodyPr>
          <a:lstStyle/>
          <a:p>
            <a:pPr marR="0" rtl="0"/>
            <a:r>
              <a:rPr lang="en-US" sz="2400" dirty="0">
                <a:latin typeface="Arial" panose="020B0604020202020204" pitchFamily="34" charset="0"/>
              </a:rPr>
              <a:t>To mitigate CSRF attacks, a trusted website can create a random challenge token and associate it with a user's session.</a:t>
            </a:r>
            <a:br>
              <a:rPr lang="en-US" sz="2000" dirty="0">
                <a:latin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</a:rPr>
              <a:t>Every user request must include the challenge token so that the trusted site can verify that the request was initiated by the user.</a:t>
            </a:r>
          </a:p>
          <a:p>
            <a:pPr marR="0" rtl="0"/>
            <a:endParaRPr lang="en-US" sz="2000" b="0" i="0" u="none" strike="noStrike" baseline="0" dirty="0">
              <a:latin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61409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2903</TotalTime>
  <Words>1921</Words>
  <Application>Microsoft Macintosh PowerPoint</Application>
  <PresentationFormat>Widescreen</PresentationFormat>
  <Paragraphs>206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31</vt:i4>
      </vt:variant>
    </vt:vector>
  </HeadingPairs>
  <TitlesOfParts>
    <vt:vector size="55" baseType="lpstr">
      <vt:lpstr>Aptos</vt:lpstr>
      <vt:lpstr>Aptos Display</vt:lpstr>
      <vt:lpstr>Arial</vt:lpstr>
      <vt:lpstr>Arial Black</vt:lpstr>
      <vt:lpstr>Arial Narrow</vt:lpstr>
      <vt:lpstr>Calibri</vt:lpstr>
      <vt:lpstr>Calibri Light</vt:lpstr>
      <vt:lpstr>Century Gothic</vt:lpstr>
      <vt:lpstr>Comic Sans MS</vt:lpstr>
      <vt:lpstr>Impact</vt:lpstr>
      <vt:lpstr>Poppins</vt:lpstr>
      <vt:lpstr>Rockwell</vt:lpstr>
      <vt:lpstr>Segoe Print</vt:lpstr>
      <vt:lpstr>Times New Roman</vt:lpstr>
      <vt:lpstr>Trebuchet MS</vt:lpstr>
      <vt:lpstr>var(--tve-font-family,"Proxima Nova")</vt:lpstr>
      <vt:lpstr>Wingdings</vt:lpstr>
      <vt:lpstr>1_Office Theme</vt:lpstr>
      <vt:lpstr>Default Design</vt:lpstr>
      <vt:lpstr>3_Office Theme</vt:lpstr>
      <vt:lpstr>4_Office Theme</vt:lpstr>
      <vt:lpstr>5_Office Theme</vt:lpstr>
      <vt:lpstr>Office Theme</vt:lpstr>
      <vt:lpstr>2_Office Theme</vt:lpstr>
      <vt:lpstr> Security Assessment and Testing</vt:lpstr>
      <vt:lpstr>Note</vt:lpstr>
      <vt:lpstr>PowerPoint Presentation</vt:lpstr>
      <vt:lpstr>PowerPoint Presentation</vt:lpstr>
      <vt:lpstr>PowerPoint Presentation</vt:lpstr>
      <vt:lpstr>PENETRATION TESTING</vt:lpstr>
      <vt:lpstr>Penetration Testing</vt:lpstr>
      <vt:lpstr>Assuring Confidentiality, Data Integrity, and System Integrity</vt:lpstr>
      <vt:lpstr>Assuring Confidentiality, Data Integrity, and System Integrity</vt:lpstr>
      <vt:lpstr>Assuring Confidentiality, Data Integrity, and System Integrity</vt:lpstr>
      <vt:lpstr>PowerPoint Presentation</vt:lpstr>
      <vt:lpstr>SOC Audits</vt:lpstr>
      <vt:lpstr>ASSURANCE CHALLENGES WITH VIRTUALIZATION &amp; CLOUD</vt:lpstr>
      <vt:lpstr>RIGHT TO AUDIT IN THE CLOUD</vt:lpstr>
      <vt:lpstr>CLOUD CONTRACT MANAGEMENT</vt:lpstr>
      <vt:lpstr>PowerPoint Presentation</vt:lpstr>
      <vt:lpstr>PowerPoint Presentation</vt:lpstr>
      <vt:lpstr>Key Risk and Performance Indicators</vt:lpstr>
      <vt:lpstr>PowerPoint Presentation</vt:lpstr>
      <vt:lpstr>Synthetic Transactions</vt:lpstr>
      <vt:lpstr>PowerPoint Presentation</vt:lpstr>
      <vt:lpstr>PowerPoint Presentation</vt:lpstr>
      <vt:lpstr>Software Testing</vt:lpstr>
      <vt:lpstr>Software Testing</vt:lpstr>
      <vt:lpstr>PowerPoint Presentation</vt:lpstr>
      <vt:lpstr>Traceability Matrix</vt:lpstr>
      <vt:lpstr>Code Injection</vt:lpstr>
      <vt:lpstr>PowerPoint Presentation</vt:lpstr>
      <vt:lpstr>Cross Site Scripting</vt:lpstr>
      <vt:lpstr>PowerPoint Presentation</vt:lpstr>
      <vt:lpstr>CSRF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 6 Security Assessment and Testing</dc:title>
  <dc:creator>Alan Harrah</dc:creator>
  <cp:lastModifiedBy>Alan Harrah</cp:lastModifiedBy>
  <cp:revision>3</cp:revision>
  <dcterms:created xsi:type="dcterms:W3CDTF">2020-11-08T00:57:23Z</dcterms:created>
  <dcterms:modified xsi:type="dcterms:W3CDTF">2026-08-19T21:29:27Z</dcterms:modified>
</cp:coreProperties>
</file>